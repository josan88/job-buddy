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-43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hyperlink" Target="https://hirebuddy-k543.onrender.com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hyperlink" Target="https://github.com/Josan88/job-budd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/>
        </p:spPr>
        <p:txBody>
          <a:bodyPr/>
          <a:lstStyle/>
          <a:p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gradFill>
            <a:gsLst>
              <a:gs pos="0">
                <a:srgbClr val="3B82F6"/>
              </a:gs>
              <a:gs pos="100000">
                <a:srgbClr val="10B981"/>
              </a:gs>
            </a:gsLst>
            <a:lin ang="54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4" name="TextBox 3" descr="{&quot;isTemplate&quot;:true,&quot;type&quot;:&quot;text&quot;}"/>
          <p:cNvSpPr txBox="1"/>
          <p:nvPr/>
        </p:nvSpPr>
        <p:spPr>
          <a:xfrm>
            <a:off x="762000" y="1714500"/>
            <a:ext cx="9525000" cy="11144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0000"/>
              </a:lnSpc>
            </a:pPr>
            <a:r>
              <a:rPr lang="en-US" sz="6600" b="1" spc="-150" dirty="0" err="1">
                <a:solidFill>
                  <a:srgbClr val="3B82F6"/>
                </a:solidFill>
                <a:latin typeface="Microsoft YaHei"/>
                <a:ea typeface="Microsoft YaHei"/>
              </a:rPr>
              <a:t>HireBuddy</a:t>
            </a:r>
            <a:endParaRPr dirty="0"/>
          </a:p>
        </p:txBody>
      </p:sp>
      <p:sp>
        <p:nvSpPr>
          <p:cNvPr id="5" name="TextBox 4" descr="{&quot;isTemplate&quot;:true,&quot;type&quot;:&quot;text&quot;}"/>
          <p:cNvSpPr txBox="1"/>
          <p:nvPr/>
        </p:nvSpPr>
        <p:spPr>
          <a:xfrm>
            <a:off x="762000" y="3095625"/>
            <a:ext cx="95250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en-US" sz="2100" b="1" dirty="0">
                <a:solidFill>
                  <a:srgbClr val="F1F5F9"/>
                </a:solidFill>
                <a:latin typeface="Microsoft YaHei"/>
                <a:ea typeface="Microsoft YaHei"/>
              </a:rPr>
              <a:t>One prompt in. One opportunity out.</a:t>
            </a:r>
            <a:endParaRPr dirty="0"/>
          </a:p>
        </p:txBody>
      </p:sp>
      <p:sp>
        <p:nvSpPr>
          <p:cNvPr id="6" name="TextBox 5" descr="{&quot;isTemplate&quot;:true,&quot;type&quot;:&quot;text&quot;}"/>
          <p:cNvSpPr txBox="1"/>
          <p:nvPr/>
        </p:nvSpPr>
        <p:spPr>
          <a:xfrm>
            <a:off x="762000" y="3819525"/>
            <a:ext cx="9525000" cy="8096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650" dirty="0">
                <a:solidFill>
                  <a:srgbClr val="94A3B8"/>
                </a:solidFill>
                <a:latin typeface="Microsoft YaHei"/>
                <a:ea typeface="Microsoft YaHei"/>
              </a:rPr>
              <a:t>In Malaysia, visually impaired students struggle to find job opportunities due to the lack of simple, accessible job search platforms.</a:t>
            </a:r>
            <a:endParaRPr lang="en-US" dirty="0"/>
          </a:p>
        </p:txBody>
      </p:sp>
      <p:sp>
        <p:nvSpPr>
          <p:cNvPr id="7" name="TextBox 6" descr="{&quot;isTemplate&quot;:true,&quot;type&quot;:&quot;text&quot;}"/>
          <p:cNvSpPr txBox="1"/>
          <p:nvPr/>
        </p:nvSpPr>
        <p:spPr>
          <a:xfrm>
            <a:off x="762000" y="6505575"/>
            <a:ext cx="676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HireBuddy</a:t>
            </a:r>
            <a:endParaRPr/>
          </a:p>
        </p:txBody>
      </p:sp>
      <p:sp>
        <p:nvSpPr>
          <p:cNvPr id="8" name="TextBox 7" descr="{&quot;isTemplate&quot;:true,&quot;type&quot;:&quot;text&quot;}"/>
          <p:cNvSpPr txBox="1"/>
          <p:nvPr/>
        </p:nvSpPr>
        <p:spPr>
          <a:xfrm>
            <a:off x="10972800" y="65055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01 / 05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Box 10" descr="{&quot;isTemplate&quot;:true,&quot;type&quot;:&quot;text&quot;}"/>
          <p:cNvSpPr txBox="1"/>
          <p:nvPr/>
        </p:nvSpPr>
        <p:spPr>
          <a:xfrm>
            <a:off x="571500" y="361950"/>
            <a:ext cx="11049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3B82F6"/>
                </a:solidFill>
                <a:latin typeface="Microsoft YaHei"/>
                <a:ea typeface="Microsoft YaHei"/>
              </a:rPr>
              <a:t>One Prompt</a:t>
            </a:r>
            <a:endParaRPr/>
          </a:p>
        </p:txBody>
      </p:sp>
      <p:sp>
        <p:nvSpPr>
          <p:cNvPr id="12" name="Freeform: Shape 11"/>
          <p:cNvSpPr/>
          <p:nvPr/>
        </p:nvSpPr>
        <p:spPr>
          <a:xfrm>
            <a:off x="571500" y="2428875"/>
            <a:ext cx="6858000" cy="2381250"/>
          </a:xfrm>
          <a:custGeom>
            <a:avLst/>
            <a:gdLst/>
            <a:ahLst/>
            <a:cxnLst/>
            <a:rect l="0" t="0" r="0" b="0"/>
            <a:pathLst>
              <a:path w="720" h="250">
                <a:moveTo>
                  <a:pt x="0" y="0"/>
                </a:moveTo>
                <a:lnTo>
                  <a:pt x="4" y="0"/>
                </a:lnTo>
                <a:lnTo>
                  <a:pt x="4" y="250"/>
                </a:lnTo>
                <a:lnTo>
                  <a:pt x="0" y="250"/>
                </a:ln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Box 12" descr="{&quot;isTemplate&quot;:true,&quot;type&quot;:&quot;text&quot;}"/>
          <p:cNvSpPr txBox="1"/>
          <p:nvPr/>
        </p:nvSpPr>
        <p:spPr>
          <a:xfrm>
            <a:off x="838200" y="2428875"/>
            <a:ext cx="6591300" cy="23812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950" i="1" dirty="0">
                <a:solidFill>
                  <a:srgbClr val="F1F5F9"/>
                </a:solidFill>
                <a:latin typeface="Microsoft YaHei"/>
                <a:ea typeface="Microsoft YaHei"/>
              </a:rPr>
              <a:t>"I'm Nadia Rahim. I'm blind and use NVDA. I live in Subang Jaya and take the LRT. I did customer service calls at a bank hotline for a year and type fast in English and Malay. Free weekdays 9am to 5pm, at least RM12 an hour, phone interviews please."</a:t>
            </a:r>
            <a:endParaRPr dirty="0"/>
          </a:p>
        </p:txBody>
      </p:sp>
      <p:sp>
        <p:nvSpPr>
          <p:cNvPr id="14" name="TextBox 13" descr="{&quot;isTemplate&quot;:true,&quot;type&quot;:&quot;text&quot;}"/>
          <p:cNvSpPr txBox="1"/>
          <p:nvPr/>
        </p:nvSpPr>
        <p:spPr>
          <a:xfrm>
            <a:off x="7782877" y="2105025"/>
            <a:ext cx="2979420" cy="990600"/>
          </a:xfrm>
          <a:prstGeom prst="rect">
            <a:avLst/>
          </a:prstGeom>
        </p:spPr>
        <p:txBody>
          <a:bodyPr wrap="square" lIns="0" tIns="0" rIns="0" bIns="0"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sz="1650" dirty="0">
                <a:solidFill>
                  <a:srgbClr val="94A3B8"/>
                </a:solidFill>
                <a:latin typeface="Microsoft YaHei"/>
                <a:ea typeface="Microsoft YaHei"/>
              </a:rPr>
              <a:t>That's everything she says. </a:t>
            </a:r>
            <a:r>
              <a:rPr lang="en-US" sz="1650" dirty="0" err="1">
                <a:solidFill>
                  <a:srgbClr val="94A3B8"/>
                </a:solidFill>
                <a:latin typeface="Microsoft YaHei"/>
                <a:ea typeface="Microsoft YaHei"/>
              </a:rPr>
              <a:t>HireBuddy</a:t>
            </a:r>
            <a:r>
              <a:rPr lang="en-US" sz="1650" dirty="0">
                <a:solidFill>
                  <a:srgbClr val="94A3B8"/>
                </a:solidFill>
                <a:latin typeface="Microsoft YaHei"/>
                <a:ea typeface="Microsoft YaHei"/>
              </a:rPr>
              <a:t> identifies her key requirements automatically</a:t>
            </a:r>
            <a:endParaRPr dirty="0"/>
          </a:p>
        </p:txBody>
      </p:sp>
      <p:sp>
        <p:nvSpPr>
          <p:cNvPr id="15" name="Freeform: Shape 14"/>
          <p:cNvSpPr/>
          <p:nvPr/>
        </p:nvSpPr>
        <p:spPr>
          <a:xfrm>
            <a:off x="7810500" y="3390900"/>
            <a:ext cx="76200" cy="76200"/>
          </a:xfrm>
          <a:custGeom>
            <a:avLst/>
            <a:gdLst/>
            <a:ahLst/>
            <a:cxnLst/>
            <a:rect l="0" t="0" r="0" b="0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Box 15" descr="{&quot;isTemplate&quot;:true,&quot;type&quot;:&quot;text&quot;}"/>
          <p:cNvSpPr txBox="1"/>
          <p:nvPr/>
        </p:nvSpPr>
        <p:spPr>
          <a:xfrm>
            <a:off x="8001000" y="3324225"/>
            <a:ext cx="14287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dirty="0">
                <a:solidFill>
                  <a:srgbClr val="F1F5F9"/>
                </a:solidFill>
                <a:latin typeface="Microsoft YaHei"/>
                <a:ea typeface="Microsoft YaHei"/>
              </a:rPr>
              <a:t>Blind, uses NVDA</a:t>
            </a:r>
            <a:endParaRPr dirty="0"/>
          </a:p>
        </p:txBody>
      </p:sp>
      <p:sp>
        <p:nvSpPr>
          <p:cNvPr id="17" name="Freeform: Shape 16"/>
          <p:cNvSpPr/>
          <p:nvPr/>
        </p:nvSpPr>
        <p:spPr>
          <a:xfrm>
            <a:off x="7810500" y="3733800"/>
            <a:ext cx="76200" cy="76200"/>
          </a:xfrm>
          <a:custGeom>
            <a:avLst/>
            <a:gdLst/>
            <a:ahLst/>
            <a:cxnLst/>
            <a:rect l="0" t="0" r="0" b="0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Box 17" descr="{&quot;isTemplate&quot;:true,&quot;type&quot;:&quot;text&quot;}"/>
          <p:cNvSpPr txBox="1"/>
          <p:nvPr/>
        </p:nvSpPr>
        <p:spPr>
          <a:xfrm>
            <a:off x="8001000" y="3667125"/>
            <a:ext cx="149542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dirty="0">
                <a:solidFill>
                  <a:srgbClr val="F1F5F9"/>
                </a:solidFill>
                <a:latin typeface="Microsoft YaHei"/>
                <a:ea typeface="Microsoft YaHei"/>
              </a:rPr>
              <a:t>Subang Jaya / LRT</a:t>
            </a:r>
            <a:endParaRPr dirty="0"/>
          </a:p>
        </p:txBody>
      </p:sp>
      <p:sp>
        <p:nvSpPr>
          <p:cNvPr id="19" name="Freeform: Shape 18"/>
          <p:cNvSpPr/>
          <p:nvPr/>
        </p:nvSpPr>
        <p:spPr>
          <a:xfrm>
            <a:off x="7810500" y="4076700"/>
            <a:ext cx="76200" cy="76200"/>
          </a:xfrm>
          <a:custGeom>
            <a:avLst/>
            <a:gdLst/>
            <a:ahLst/>
            <a:cxnLst/>
            <a:rect l="0" t="0" r="0" b="0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Box 19" descr="{&quot;isTemplate&quot;:true,&quot;type&quot;:&quot;text&quot;}"/>
          <p:cNvSpPr txBox="1"/>
          <p:nvPr/>
        </p:nvSpPr>
        <p:spPr>
          <a:xfrm>
            <a:off x="8001000" y="4010025"/>
            <a:ext cx="15621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dirty="0">
                <a:solidFill>
                  <a:srgbClr val="F1F5F9"/>
                </a:solidFill>
                <a:latin typeface="Microsoft YaHei"/>
                <a:ea typeface="Microsoft YaHei"/>
              </a:rPr>
              <a:t>RM12/</a:t>
            </a:r>
            <a:r>
              <a:rPr lang="en-US" sz="1350" dirty="0" err="1">
                <a:solidFill>
                  <a:srgbClr val="F1F5F9"/>
                </a:solidFill>
                <a:latin typeface="Microsoft YaHei"/>
                <a:ea typeface="Microsoft YaHei"/>
              </a:rPr>
              <a:t>hr</a:t>
            </a:r>
            <a:r>
              <a:rPr lang="en-US" sz="1350" dirty="0">
                <a:solidFill>
                  <a:srgbClr val="F1F5F9"/>
                </a:solidFill>
                <a:latin typeface="Microsoft YaHei"/>
                <a:ea typeface="Microsoft YaHei"/>
              </a:rPr>
              <a:t> minimum</a:t>
            </a:r>
            <a:endParaRPr dirty="0"/>
          </a:p>
        </p:txBody>
      </p:sp>
      <p:sp>
        <p:nvSpPr>
          <p:cNvPr id="21" name="Freeform: Shape 20"/>
          <p:cNvSpPr/>
          <p:nvPr/>
        </p:nvSpPr>
        <p:spPr>
          <a:xfrm>
            <a:off x="7810500" y="4419600"/>
            <a:ext cx="76200" cy="76200"/>
          </a:xfrm>
          <a:custGeom>
            <a:avLst/>
            <a:gdLst/>
            <a:ahLst/>
            <a:cxnLst/>
            <a:rect l="0" t="0" r="0" b="0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Box 21" descr="{&quot;isTemplate&quot;:true,&quot;type&quot;:&quot;text&quot;}"/>
          <p:cNvSpPr txBox="1"/>
          <p:nvPr/>
        </p:nvSpPr>
        <p:spPr>
          <a:xfrm>
            <a:off x="8001000" y="4352925"/>
            <a:ext cx="1409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dirty="0">
                <a:solidFill>
                  <a:srgbClr val="F1F5F9"/>
                </a:solidFill>
                <a:latin typeface="Microsoft YaHei"/>
                <a:ea typeface="Microsoft YaHei"/>
              </a:rPr>
              <a:t>Phone interviews</a:t>
            </a:r>
            <a:endParaRPr dirty="0"/>
          </a:p>
        </p:txBody>
      </p:sp>
      <p:sp>
        <p:nvSpPr>
          <p:cNvPr id="23" name="Freeform: Shape 22"/>
          <p:cNvSpPr/>
          <p:nvPr/>
        </p:nvSpPr>
        <p:spPr>
          <a:xfrm>
            <a:off x="7810500" y="4762500"/>
            <a:ext cx="76200" cy="76200"/>
          </a:xfrm>
          <a:custGeom>
            <a:avLst/>
            <a:gdLst/>
            <a:ahLst/>
            <a:cxnLst/>
            <a:rect l="0" t="0" r="0" b="0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Box 23" descr="{&quot;isTemplate&quot;:true,&quot;type&quot;:&quot;text&quot;}"/>
          <p:cNvSpPr txBox="1"/>
          <p:nvPr/>
        </p:nvSpPr>
        <p:spPr>
          <a:xfrm>
            <a:off x="8001000" y="4695825"/>
            <a:ext cx="1362075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dirty="0">
                <a:solidFill>
                  <a:srgbClr val="F1F5F9"/>
                </a:solidFill>
                <a:latin typeface="Microsoft YaHei"/>
                <a:ea typeface="Microsoft YaHei"/>
              </a:rPr>
              <a:t>Weekdays 9 to 5</a:t>
            </a:r>
            <a:endParaRPr dirty="0"/>
          </a:p>
        </p:txBody>
      </p:sp>
      <p:sp>
        <p:nvSpPr>
          <p:cNvPr id="25" name="TextBox 24" descr="{&quot;isTemplate&quot;:true,&quot;type&quot;:&quot;text&quot;}"/>
          <p:cNvSpPr txBox="1"/>
          <p:nvPr/>
        </p:nvSpPr>
        <p:spPr>
          <a:xfrm>
            <a:off x="571500" y="6505575"/>
            <a:ext cx="676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HireBuddy</a:t>
            </a:r>
            <a:endParaRPr/>
          </a:p>
        </p:txBody>
      </p:sp>
      <p:sp>
        <p:nvSpPr>
          <p:cNvPr id="26" name="TextBox 25" descr="{&quot;isTemplate&quot;:true,&quot;type&quot;:&quot;text&quot;}"/>
          <p:cNvSpPr txBox="1"/>
          <p:nvPr/>
        </p:nvSpPr>
        <p:spPr>
          <a:xfrm>
            <a:off x="11163300" y="65055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02 / 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Box 28" descr="{&quot;isTemplate&quot;:true,&quot;type&quot;:&quot;text&quot;}"/>
          <p:cNvSpPr txBox="1"/>
          <p:nvPr/>
        </p:nvSpPr>
        <p:spPr>
          <a:xfrm>
            <a:off x="571500" y="361950"/>
            <a:ext cx="11049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3B82F6"/>
                </a:solidFill>
                <a:latin typeface="Microsoft YaHei"/>
                <a:ea typeface="Microsoft YaHei"/>
              </a:rPr>
              <a:t>Why It's an Agent</a:t>
            </a:r>
            <a:endParaRPr/>
          </a:p>
        </p:txBody>
      </p:sp>
      <p:sp>
        <p:nvSpPr>
          <p:cNvPr id="30" name="TextBox 29" descr="{&quot;isTemplate&quot;:true,&quot;type&quot;:&quot;text&quot;}"/>
          <p:cNvSpPr txBox="1"/>
          <p:nvPr/>
        </p:nvSpPr>
        <p:spPr>
          <a:xfrm>
            <a:off x="571500" y="1914525"/>
            <a:ext cx="3048000" cy="8096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650" dirty="0">
                <a:solidFill>
                  <a:srgbClr val="F1F5F9"/>
                </a:solidFill>
                <a:latin typeface="Microsoft YaHei"/>
                <a:ea typeface="Microsoft YaHei"/>
              </a:rPr>
              <a:t>Every tool returns a result or a list of problems.</a:t>
            </a:r>
            <a:endParaRPr dirty="0"/>
          </a:p>
        </p:txBody>
      </p:sp>
      <p:sp>
        <p:nvSpPr>
          <p:cNvPr id="31" name="TextBox 30" descr="{&quot;isTemplate&quot;:true,&quot;type&quot;:&quot;text&quot;}"/>
          <p:cNvSpPr txBox="1"/>
          <p:nvPr/>
        </p:nvSpPr>
        <p:spPr>
          <a:xfrm>
            <a:off x="571500" y="2914650"/>
            <a:ext cx="3048000" cy="8096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The agent fixes them and tries again.</a:t>
            </a:r>
            <a:endParaRPr/>
          </a:p>
        </p:txBody>
      </p:sp>
      <p:sp>
        <p:nvSpPr>
          <p:cNvPr id="32" name="TextBox 31" descr="{&quot;isTemplate&quot;:true,&quot;type&quot;:&quot;text&quot;}"/>
          <p:cNvSpPr txBox="1"/>
          <p:nvPr/>
        </p:nvSpPr>
        <p:spPr>
          <a:xfrm>
            <a:off x="571500" y="3914775"/>
            <a:ext cx="3048000" cy="8096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650" dirty="0">
                <a:solidFill>
                  <a:srgbClr val="94A3B8"/>
                </a:solidFill>
                <a:latin typeface="Microsoft YaHei"/>
                <a:ea typeface="Microsoft YaHei"/>
              </a:rPr>
              <a:t>LLM or rule-based planner. Same checks.</a:t>
            </a:r>
            <a:endParaRPr dirty="0"/>
          </a:p>
        </p:txBody>
      </p:sp>
      <p:sp>
        <p:nvSpPr>
          <p:cNvPr id="33" name="TextBox 32" descr="{&quot;isTemplate&quot;:true,&quot;type&quot;:&quot;text&quot;}"/>
          <p:cNvSpPr txBox="1"/>
          <p:nvPr/>
        </p:nvSpPr>
        <p:spPr>
          <a:xfrm>
            <a:off x="571500" y="4914900"/>
            <a:ext cx="3048000" cy="4095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en-US" sz="1650" b="1">
                <a:solidFill>
                  <a:srgbClr val="3B82F6"/>
                </a:solidFill>
                <a:latin typeface="Microsoft YaHei"/>
                <a:ea typeface="Microsoft YaHei"/>
              </a:rPr>
              <a:t>Can't stop halfway.</a:t>
            </a:r>
            <a:endParaRPr/>
          </a:p>
        </p:txBody>
      </p:sp>
      <p:pic>
        <p:nvPicPr>
          <p:cNvPr id="34" name="Graphic 3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00500" y="1333500"/>
            <a:ext cx="7620000" cy="4572000"/>
          </a:xfrm>
          <a:prstGeom prst="rect">
            <a:avLst/>
          </a:prstGeom>
          <a:ln/>
        </p:spPr>
      </p:pic>
      <p:sp>
        <p:nvSpPr>
          <p:cNvPr id="35" name="TextBox 34" descr="{&quot;isTemplate&quot;:true,&quot;type&quot;:&quot;text&quot;}"/>
          <p:cNvSpPr txBox="1"/>
          <p:nvPr/>
        </p:nvSpPr>
        <p:spPr>
          <a:xfrm>
            <a:off x="571500" y="6505575"/>
            <a:ext cx="676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HireBuddy</a:t>
            </a:r>
            <a:endParaRPr/>
          </a:p>
        </p:txBody>
      </p:sp>
      <p:sp>
        <p:nvSpPr>
          <p:cNvPr id="36" name="TextBox 35" descr="{&quot;isTemplate&quot;:true,&quot;type&quot;:&quot;text&quot;}"/>
          <p:cNvSpPr txBox="1"/>
          <p:nvPr/>
        </p:nvSpPr>
        <p:spPr>
          <a:xfrm>
            <a:off x="11163300" y="65055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03 / 05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'1280px', height: '720px', background: '#0F172A', padding: '20px 60px 20px 60px', justifyContent: 'space-between' }}&gt;&#10;  &lt;Box style={{ height: '80px', justifyContent: 'center' }}&gt;&#10;    &lt;Text style={{ fontSize: 36, fontWeight: 'bold', color: '#3B82F6' }}&gt;Proof&lt;/Text&gt;&#10;  &lt;/Box&gt;&#10;  &lt;Box style={{ height: '520px', flexDirection: 'column', gap: '20px' }}&gt;&#10;    &lt;Box style={{ flexDirection: 'row', gap: '40px', height: '360px' }}&gt;&#10;      &lt;Box style={{ width: '620px', flexDirection: 'column', gap: '16px', justifyContent: 'center' }}&gt;&#10;        &lt;Box style={{ flexDirection: 'row', gap: '16px', alignItems: 'center' }}&gt;&#10;          &lt;FAIcon name='check-circle' style={{ fill: '#10B981', width: 40, height: 40 }} /&gt;&#10;          &lt;Text style={{ fontSize: 72, fontWeight: 'bold', color: '#10B981', lineHeight: 1.0 }}&gt;25/25&lt;/Text&gt;&#10;        &lt;/Box&gt;&#10;        &lt;Text style={{ fontSize: 22, color: '#F1F5F9', lineHeight: 1.5 }}&gt;verification checks pass for Nadia&lt;/Text&gt;&#10;        &lt;Text style={{ fontSize: 18, color: '#94A3B8', lineHeight: 1.5 }}&gt;Goal, Plan, Tools, Verify, Fix, Deliver&lt;/Text&gt;&#10;      &lt;/Box&gt;&#10;      &lt;Box style={{ width: '500px', flexDirection: 'column', gap: '32px', justifyContent: 'center' }}&gt;&#10;        &lt;Box style={{ flexDirection: 'column', gap: '8px' }}&gt;&#10;          &lt;Box style={{ flexDirection: 'row', gap: '12px', alignItems: 'center' }}&gt;&#10;            &lt;FAIcon name='check-circle' style={{ fill: '#3B82F6', width: 28, height: 28 }} /&gt;&#10;            &lt;Text style={{ fontSize: 40, fontWeight: 'bold', color: '#3B82F6', lineHeight: 1.1 }}&gt;WCAG 2.2 AA&lt;/Text&gt;&#10;          &lt;/Box&gt;&#10;          &lt;Text style={{ fontSize: 18, color: '#94A3B8', lineHeight: 1.4, paddingLeft: '40px' }}&gt;AAA contrast (7:1), skip links, keyboard nav&lt;/Text&gt;&#10;        &lt;/Box&gt;&#10;        &lt;Box style={{ flexDirection: 'column', gap: '8px' }}&gt;&#10;          &lt;Box style={{ flexDirection: 'row', gap: '12px', alignItems: 'center' }}&gt;&#10;            &lt;FAIcon name='check-circle' style={{ fill: '#3B82F6', width: 28, height: 28 }} /&gt;&#10;            &lt;Text style={{ fontSize: 40, fontWeight: 'bold', color: '#3B82F6', lineHeight: 1.1 }}&gt;RM8.72/hr&lt;/Text&gt;&#10;          &lt;/Box&gt;&#10;          &lt;Text style={{ fontSize: 18, color: '#94A3B8', lineHeight: 1.4, paddingLeft: '40px' }}&gt;refuses illegal pay from both sides&lt;/Text&gt;&#10;        &lt;/Box&gt;&#10;      &lt;/Box&gt;&#10;    &lt;/Box&gt;&#10;    &lt;Box style={{ height: '140px', borderTop: '2px solid #1E293B', paddingTop: '24px', flexDirection: 'column', gap: '12px', justifyContent: 'center' }}&gt;&#10;      &lt;Text style={{ fontSize: 24, color: '#F1F5F9', lineHeight: 1.4, fontWeight: 'bold' }}&gt;One sentence in. Three interviews booked and verified.&lt;/Text&gt;&#10;      &lt;Text style={{ fontSize: 24, color: '#3B82F6', lineHeight: 1.4, fontWeight: 'bold' }}&gt;HireBuddy: work that gets done.&lt;/Text&gt;&#10;    &lt;/Box&gt;&#10;  &lt;/Box&gt;&#10;  &lt;Box style={{ height: '40px', flexDirection: 'row', justifyContent: 'space-between', alignItems: 'flex-end' }}&gt;&#10;    &lt;Text style={{ fontSize: 14, color: '#475569' }}&gt;HireBuddy&lt;/Text&gt;&#10;    &lt;Text style={{ fontSize: 14, color: '#475569' }}&gt;04 / 05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Box 38" descr="{&quot;isTemplate&quot;:true,&quot;type&quot;:&quot;text&quot;}"/>
          <p:cNvSpPr txBox="1"/>
          <p:nvPr/>
        </p:nvSpPr>
        <p:spPr>
          <a:xfrm>
            <a:off x="571500" y="361950"/>
            <a:ext cx="11049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3B82F6"/>
                </a:solidFill>
                <a:latin typeface="Microsoft YaHei"/>
                <a:ea typeface="Microsoft YaHei"/>
              </a:rPr>
              <a:t>Proof</a:t>
            </a:r>
            <a:endParaRPr/>
          </a:p>
        </p:txBody>
      </p:sp>
      <p:pic>
        <p:nvPicPr>
          <p:cNvPr id="40" name="Graphic 3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2171700"/>
            <a:ext cx="381000" cy="381000"/>
          </a:xfrm>
          <a:prstGeom prst="rect">
            <a:avLst/>
          </a:prstGeom>
          <a:ln/>
        </p:spPr>
      </p:pic>
      <p:sp>
        <p:nvSpPr>
          <p:cNvPr id="41" name="TextBox 40" descr="{&quot;isTemplate&quot;:true,&quot;type&quot;:&quot;text&quot;}"/>
          <p:cNvSpPr txBox="1"/>
          <p:nvPr/>
        </p:nvSpPr>
        <p:spPr>
          <a:xfrm>
            <a:off x="1104900" y="1943100"/>
            <a:ext cx="2019300" cy="8286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10B981"/>
                </a:solidFill>
                <a:latin typeface="Microsoft YaHei"/>
                <a:ea typeface="Microsoft YaHei"/>
              </a:rPr>
              <a:t>25/25</a:t>
            </a:r>
            <a:endParaRPr dirty="0"/>
          </a:p>
        </p:txBody>
      </p:sp>
      <p:sp>
        <p:nvSpPr>
          <p:cNvPr id="42" name="TextBox 41" descr="{&quot;isTemplate&quot;:true,&quot;type&quot;:&quot;text&quot;}"/>
          <p:cNvSpPr txBox="1"/>
          <p:nvPr/>
        </p:nvSpPr>
        <p:spPr>
          <a:xfrm>
            <a:off x="571500" y="2924175"/>
            <a:ext cx="59055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en-US" sz="1650">
                <a:solidFill>
                  <a:srgbClr val="F1F5F9"/>
                </a:solidFill>
                <a:latin typeface="Microsoft YaHei"/>
                <a:ea typeface="Microsoft YaHei"/>
              </a:rPr>
              <a:t>verification checks pass for Nadia</a:t>
            </a:r>
            <a:endParaRPr/>
          </a:p>
        </p:txBody>
      </p:sp>
      <p:sp>
        <p:nvSpPr>
          <p:cNvPr id="43" name="TextBox 42" descr="{&quot;isTemplate&quot;:true,&quot;type&quot;:&quot;text&quot;}"/>
          <p:cNvSpPr txBox="1"/>
          <p:nvPr/>
        </p:nvSpPr>
        <p:spPr>
          <a:xfrm>
            <a:off x="571500" y="3457575"/>
            <a:ext cx="5905500" cy="3143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Goal, Plan, Tools, Verify, Fix, Deliver</a:t>
            </a:r>
            <a:endParaRPr/>
          </a:p>
        </p:txBody>
      </p:sp>
      <p:pic>
        <p:nvPicPr>
          <p:cNvPr id="44" name="Graphic 43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8000" y="1952625"/>
            <a:ext cx="266700" cy="266700"/>
          </a:xfrm>
          <a:prstGeom prst="rect">
            <a:avLst/>
          </a:prstGeom>
          <a:ln/>
        </p:spPr>
      </p:pic>
      <p:sp>
        <p:nvSpPr>
          <p:cNvPr id="45" name="TextBox 44" descr="{&quot;isTemplate&quot;:true,&quot;type&quot;:&quot;text&quot;}"/>
          <p:cNvSpPr txBox="1"/>
          <p:nvPr/>
        </p:nvSpPr>
        <p:spPr>
          <a:xfrm>
            <a:off x="7239000" y="1828800"/>
            <a:ext cx="2619375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3B82F6"/>
                </a:solidFill>
                <a:latin typeface="Microsoft YaHei"/>
                <a:ea typeface="Microsoft YaHei"/>
              </a:rPr>
              <a:t>WCAG 2.2 AA</a:t>
            </a:r>
            <a:endParaRPr/>
          </a:p>
        </p:txBody>
      </p:sp>
      <p:sp>
        <p:nvSpPr>
          <p:cNvPr id="46" name="TextBox 45" descr="{&quot;isTemplate&quot;:true,&quot;type&quot;:&quot;text&quot;}"/>
          <p:cNvSpPr txBox="1"/>
          <p:nvPr/>
        </p:nvSpPr>
        <p:spPr>
          <a:xfrm>
            <a:off x="6858000" y="2409825"/>
            <a:ext cx="4762500" cy="295275"/>
          </a:xfrm>
          <a:prstGeom prst="rect">
            <a:avLst/>
          </a:prstGeom>
        </p:spPr>
        <p:txBody>
          <a:bodyPr wrap="none" lIns="285750" tIns="0" rIns="0" bIns="0"/>
          <a:lstStyle/>
          <a:p>
            <a:pPr>
              <a:lnSpc>
                <a:spcPct val="14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AAA contrast (7:1), skip links, keyboard nav</a:t>
            </a:r>
            <a:endParaRPr/>
          </a:p>
        </p:txBody>
      </p:sp>
      <p:pic>
        <p:nvPicPr>
          <p:cNvPr id="47" name="Graphic 46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8000" y="3133725"/>
            <a:ext cx="266700" cy="266700"/>
          </a:xfrm>
          <a:prstGeom prst="rect">
            <a:avLst/>
          </a:prstGeom>
          <a:ln/>
        </p:spPr>
      </p:pic>
      <p:sp>
        <p:nvSpPr>
          <p:cNvPr id="48" name="TextBox 47" descr="{&quot;isTemplate&quot;:true,&quot;type&quot;:&quot;text&quot;}"/>
          <p:cNvSpPr txBox="1"/>
          <p:nvPr/>
        </p:nvSpPr>
        <p:spPr>
          <a:xfrm>
            <a:off x="7239000" y="3009900"/>
            <a:ext cx="2066925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3B82F6"/>
                </a:solidFill>
                <a:latin typeface="Microsoft YaHei"/>
                <a:ea typeface="Microsoft YaHei"/>
              </a:rPr>
              <a:t>RM8.72/hr</a:t>
            </a:r>
            <a:endParaRPr/>
          </a:p>
        </p:txBody>
      </p:sp>
      <p:sp>
        <p:nvSpPr>
          <p:cNvPr id="49" name="TextBox 48" descr="{&quot;isTemplate&quot;:true,&quot;type&quot;:&quot;text&quot;}"/>
          <p:cNvSpPr txBox="1"/>
          <p:nvPr/>
        </p:nvSpPr>
        <p:spPr>
          <a:xfrm>
            <a:off x="6858000" y="3590925"/>
            <a:ext cx="4762500" cy="295275"/>
          </a:xfrm>
          <a:prstGeom prst="rect">
            <a:avLst/>
          </a:prstGeom>
        </p:spPr>
        <p:txBody>
          <a:bodyPr wrap="none" lIns="285750" tIns="0" rIns="0" bIns="0"/>
          <a:lstStyle/>
          <a:p>
            <a:pPr>
              <a:lnSpc>
                <a:spcPct val="14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refuses illegal pay from both sides</a:t>
            </a:r>
            <a:endParaRPr/>
          </a:p>
        </p:txBody>
      </p:sp>
      <p:sp>
        <p:nvSpPr>
          <p:cNvPr id="50" name="Freeform: Shape 49"/>
          <p:cNvSpPr/>
          <p:nvPr/>
        </p:nvSpPr>
        <p:spPr>
          <a:xfrm>
            <a:off x="571500" y="4762500"/>
            <a:ext cx="11049000" cy="1333500"/>
          </a:xfrm>
          <a:custGeom>
            <a:avLst/>
            <a:gdLst/>
            <a:ahLst/>
            <a:cxnLst/>
            <a:rect l="0" t="0" r="0" b="0"/>
            <a:pathLst>
              <a:path w="1160" h="140">
                <a:moveTo>
                  <a:pt x="0" y="0"/>
                </a:moveTo>
                <a:lnTo>
                  <a:pt x="1160" y="0"/>
                </a:lnTo>
                <a:lnTo>
                  <a:pt x="116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29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Box 50" descr="{&quot;isTemplate&quot;:true,&quot;type&quot;:&quot;text&quot;}"/>
          <p:cNvSpPr txBox="1"/>
          <p:nvPr/>
        </p:nvSpPr>
        <p:spPr>
          <a:xfrm>
            <a:off x="571500" y="5105400"/>
            <a:ext cx="11049000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en-US" sz="1800" b="1">
                <a:solidFill>
                  <a:srgbClr val="F1F5F9"/>
                </a:solidFill>
                <a:latin typeface="Microsoft YaHei"/>
                <a:ea typeface="Microsoft YaHei"/>
              </a:rPr>
              <a:t>One sentence in. Three interviews booked and verified.</a:t>
            </a:r>
            <a:endParaRPr/>
          </a:p>
        </p:txBody>
      </p:sp>
      <p:sp>
        <p:nvSpPr>
          <p:cNvPr id="52" name="TextBox 51" descr="{&quot;isTemplate&quot;:true,&quot;type&quot;:&quot;text&quot;}"/>
          <p:cNvSpPr txBox="1"/>
          <p:nvPr/>
        </p:nvSpPr>
        <p:spPr>
          <a:xfrm>
            <a:off x="571500" y="5610225"/>
            <a:ext cx="11049000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</a:pPr>
            <a:r>
              <a:rPr lang="en-US" sz="1800" b="1">
                <a:solidFill>
                  <a:srgbClr val="3B82F6"/>
                </a:solidFill>
                <a:latin typeface="Microsoft YaHei"/>
                <a:ea typeface="Microsoft YaHei"/>
              </a:rPr>
              <a:t>HireBuddy: work that gets done.</a:t>
            </a:r>
            <a:endParaRPr/>
          </a:p>
        </p:txBody>
      </p:sp>
      <p:sp>
        <p:nvSpPr>
          <p:cNvPr id="53" name="TextBox 52" descr="{&quot;isTemplate&quot;:true,&quot;type&quot;:&quot;text&quot;}"/>
          <p:cNvSpPr txBox="1"/>
          <p:nvPr/>
        </p:nvSpPr>
        <p:spPr>
          <a:xfrm>
            <a:off x="571500" y="6505575"/>
            <a:ext cx="676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HireBuddy</a:t>
            </a:r>
            <a:endParaRPr/>
          </a:p>
        </p:txBody>
      </p:sp>
      <p:sp>
        <p:nvSpPr>
          <p:cNvPr id="54" name="TextBox 53" descr="{&quot;isTemplate&quot;:true,&quot;type&quot;:&quot;text&quot;}"/>
          <p:cNvSpPr txBox="1"/>
          <p:nvPr/>
        </p:nvSpPr>
        <p:spPr>
          <a:xfrm>
            <a:off x="11163300" y="65055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04 / 05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'1280px', height: '720px', background: '#0F172A', padding: '20px 60px 20px 60px', justifyContent: 'space-between' }}&gt;&#10;  &lt;Box style={{ height: '80px', justifyContent: 'center' }}&gt;&#10;    &lt;Text style={{ fontSize: 36, fontWeight: 'bold', color: '#3B82F6' }}&gt;Links&lt;/Text&gt;&#10;  &lt;/Box&gt;&#10;  &lt;Box style={{ height: '520px', flexDirection: 'column', justifyContent: 'center', alignItems: 'center', gap: '48px' }}&gt;&#10;    &lt;Text style={{ fontSize: 22, color: '#94A3B8' }}&gt;for Q&amp;A&lt;/Text&gt;&#10;    &lt;Box style={{ flexDirection: 'column', gap: '32px', alignItems: 'center' }}&gt;&#10;      &lt;Box style={{ flexDirection: 'row', gap: '16px', alignItems: 'center' }}&gt;&#10;        &lt;FAIcon name='file-text' style={{ fill: '#3B82F6', width: 28, height: 28 }} /&gt;&#10;        &lt;Text href=&quot;https://github.com/Josan88/job-buddy&quot; style={{ fontSize: 24, color: '#3B82F6', textDecoration: 'underline' }}&gt;github.com/Josan88/job-buddy&lt;/Text&gt;&#10;      &lt;/Box&gt;&#10;      &lt;Box style={{ flexDirection: 'row', gap: '16px', alignItems: 'center' }}&gt;&#10;        &lt;FAIcon name='arrow-right' style={{ fill: '#10B981', width: 28, height: 28 }} /&gt;&#10;        &lt;Text href=&quot;https://hirebuddy-k543.onrender.com&quot; style={{ fontSize: 24, color: '#10B981', textDecoration: 'underline' }}&gt;hirebuddy-k543.onrender.com&lt;/Text&gt;&#10;      &lt;/Box&gt;&#10;    &lt;/Box&gt;&#10;    &lt;Box style={{ marginTop: '40px' }}&gt;&#10;      &lt;Text style={{ fontSize: 20, color: '#475569' }}&gt;HireBuddy: work that gets done.&lt;/Text&gt;&#10;    &lt;/Box&gt;&#10;  &lt;/Box&gt;&#10;  &lt;Box style={{ height: '40px', flexDirection: 'row', justifyContent: 'space-between', alignItems: 'flex-end' }}&gt;&#10;    &lt;Text style={{ fontSize: 14, color: '#475569' }}&gt;HireBuddy&lt;/Text&gt;&#10;    &lt;Text style={{ fontSize: 14, color: '#475569' }}&gt;05 / 05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Box 56" descr="{&quot;isTemplate&quot;:true,&quot;type&quot;:&quot;text&quot;}"/>
          <p:cNvSpPr txBox="1"/>
          <p:nvPr/>
        </p:nvSpPr>
        <p:spPr>
          <a:xfrm>
            <a:off x="571500" y="361950"/>
            <a:ext cx="11049000" cy="4191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3B82F6"/>
                </a:solidFill>
                <a:latin typeface="Microsoft YaHei"/>
                <a:ea typeface="Microsoft YaHei"/>
              </a:rPr>
              <a:t>Links</a:t>
            </a:r>
            <a:endParaRPr/>
          </a:p>
        </p:txBody>
      </p:sp>
      <p:sp>
        <p:nvSpPr>
          <p:cNvPr id="58" name="TextBox 57" descr="{&quot;isTemplate&quot;:true,&quot;type&quot;:&quot;text&quot;}"/>
          <p:cNvSpPr txBox="1"/>
          <p:nvPr/>
        </p:nvSpPr>
        <p:spPr>
          <a:xfrm>
            <a:off x="5667375" y="2305050"/>
            <a:ext cx="8572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>for Q&amp;A</a:t>
            </a:r>
            <a:endParaRPr/>
          </a:p>
        </p:txBody>
      </p:sp>
      <p:pic>
        <p:nvPicPr>
          <p:cNvPr id="59" name="Graphic 58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52900" y="3028950"/>
            <a:ext cx="266700" cy="266700"/>
          </a:xfrm>
          <a:prstGeom prst="rect">
            <a:avLst/>
          </a:prstGeom>
          <a:ln/>
        </p:spPr>
      </p:pic>
      <p:sp>
        <p:nvSpPr>
          <p:cNvPr id="60" name="TextBox 59" descr="{&quot;isTemplate&quot;:true,&quot;type&quot;:&quot;text&quot;}">
            <a:hlinkClick r:id="rId4"/>
          </p:cNvPr>
          <p:cNvSpPr txBox="1"/>
          <p:nvPr/>
        </p:nvSpPr>
        <p:spPr>
          <a:xfrm>
            <a:off x="4572000" y="3019425"/>
            <a:ext cx="3476625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u="sng">
                <a:solidFill>
                  <a:srgbClr val="3B82F6"/>
                </a:solidFill>
                <a:latin typeface="Microsoft YaHei"/>
                <a:ea typeface="Microsoft YaHei"/>
                <a:hlinkClick r:id="rId4"/>
              </a:rPr>
              <a:t>github.com/Josan88/job-buddy</a:t>
            </a:r>
            <a:endParaRPr/>
          </a:p>
        </p:txBody>
      </p:sp>
      <p:pic>
        <p:nvPicPr>
          <p:cNvPr id="61" name="Graphic 6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38625" y="3609975"/>
            <a:ext cx="266700" cy="266700"/>
          </a:xfrm>
          <a:prstGeom prst="rect">
            <a:avLst/>
          </a:prstGeom>
          <a:ln/>
        </p:spPr>
      </p:pic>
      <p:sp>
        <p:nvSpPr>
          <p:cNvPr id="62" name="TextBox 61" descr="{&quot;isTemplate&quot;:true,&quot;type&quot;:&quot;text&quot;}">
            <a:hlinkClick r:id="rId7"/>
          </p:cNvPr>
          <p:cNvSpPr txBox="1"/>
          <p:nvPr/>
        </p:nvSpPr>
        <p:spPr>
          <a:xfrm>
            <a:off x="4657725" y="3600450"/>
            <a:ext cx="331470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800" u="sng">
                <a:solidFill>
                  <a:srgbClr val="10B981"/>
                </a:solidFill>
                <a:latin typeface="Microsoft YaHei"/>
                <a:ea typeface="Microsoft YaHei"/>
                <a:hlinkClick r:id="rId7"/>
              </a:rPr>
              <a:t>hirebuddy-k543.onrender.com</a:t>
            </a:r>
            <a:endParaRPr/>
          </a:p>
        </p:txBody>
      </p:sp>
      <p:sp>
        <p:nvSpPr>
          <p:cNvPr id="63" name="TextBox 62" descr="{&quot;isTemplate&quot;:true,&quot;type&quot;:&quot;text&quot;}"/>
          <p:cNvSpPr txBox="1"/>
          <p:nvPr/>
        </p:nvSpPr>
        <p:spPr>
          <a:xfrm>
            <a:off x="4619625" y="4714875"/>
            <a:ext cx="29527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500">
                <a:solidFill>
                  <a:srgbClr val="475569"/>
                </a:solidFill>
                <a:latin typeface="Microsoft YaHei"/>
                <a:ea typeface="Microsoft YaHei"/>
              </a:rPr>
              <a:t>HireBuddy: work that gets done.</a:t>
            </a:r>
            <a:endParaRPr/>
          </a:p>
        </p:txBody>
      </p:sp>
      <p:sp>
        <p:nvSpPr>
          <p:cNvPr id="64" name="TextBox 63" descr="{&quot;isTemplate&quot;:true,&quot;type&quot;:&quot;text&quot;}"/>
          <p:cNvSpPr txBox="1"/>
          <p:nvPr/>
        </p:nvSpPr>
        <p:spPr>
          <a:xfrm>
            <a:off x="571500" y="6505575"/>
            <a:ext cx="676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HireBuddy</a:t>
            </a:r>
            <a:endParaRPr/>
          </a:p>
        </p:txBody>
      </p:sp>
      <p:sp>
        <p:nvSpPr>
          <p:cNvPr id="65" name="TextBox 64" descr="{&quot;isTemplate&quot;:true,&quot;type&quot;:&quot;text&quot;}"/>
          <p:cNvSpPr txBox="1"/>
          <p:nvPr/>
        </p:nvSpPr>
        <p:spPr>
          <a:xfrm>
            <a:off x="11163300" y="65055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05 / 05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256</Words>
  <Application>Microsoft Office PowerPoint</Application>
  <PresentationFormat>Widescreen</PresentationFormat>
  <Paragraphs>41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ACER</cp:lastModifiedBy>
  <cp:revision>4</cp:revision>
  <dcterms:created xsi:type="dcterms:W3CDTF">2026-10-11T01:17:10Z</dcterms:created>
  <dcterms:modified xsi:type="dcterms:W3CDTF">2026-10-10T19:30:09Z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{"AIGC":{"Label":"1","ContentProducer":"00119111010856365494821B355","ProduceID":"01a126c164667298a17dc893c23f4997","ReservedCode1":"","ContentPropagator":"00119111010856365494821B355","PropagateID":"01a126c164667298a17dc893c23f4997","ReservedCode2":""}}</vt:lpwstr>
  </property>
</Properties>
</file>