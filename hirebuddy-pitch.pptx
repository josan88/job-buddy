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80d89d0-86c1-3ea6-25e0-aa1c7bb76afc}">
          <p14:sldIdLst>
            <p14:sldId id="256"/>
          </p14:sldIdLst>
        </p14:section>
        <p14:section name="Solution" id="{ada76e4e-8c26-98b2-3622-d688e048a0a1}">
          <p14:sldIdLst>
            <p14:sldId id="257"/>
            <p14:sldId id="258"/>
          </p14:sldIdLst>
        </p14:section>
        <p14:section name="How it works" id="{973454a4-531a-f018-4c8f-23aa4265856c}">
          <p14:sldIdLst>
            <p14:sldId id="259"/>
            <p14:sldId id="260"/>
          </p14:sldIdLst>
        </p14:section>
        <p14:section name="Close" id="{a81978e1-daed-4303-d55d-fb57af45455d}">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20s]
Imagine you're blind and looking for your first job. Most job sites fight your screen reader, and checking every listing for pay, hours, travel and whether it needs sight takes hours. HireBuddy does that work for you, inside WorkBuddy.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25s]
This is all Nadia types. Twenty-three words, no forms. HireBuddy pulls out what matters: NVDA, Subang Jaya, English and Malay, weekdays, at least RM12 an hour. She just says where her resume is, and WorkBuddy finds it and reads her work history for her application.
[ACTION: paste this sentence into WorkBuddy now and let it run while you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[0:45-1:25 | 40s]
WorkBuddy is the engine. Our skill gives it the plan. It finds her resume in Documents, then searches JobStreet, Indeed and Hiredly while HireBuddy saves her profile, in parallel. Our tools check every job, verify the result, and save it on her computer. WorkBuddy also runs a daily check, takes requests by Telegram, and sends the application she chooses from her own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35s]
This is the real run on that sentence. Round one found only two jobs that fit. So the agent tested five ways to widen the search, simulating each one first. None added a job that actually suits her, so it stopped and told her what came closest, instead of padding the list with bad fits. Lowering her pay floor? It won't do that without her OK. And it cannot finish until verification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35s]
[ACTION: switch to WorkBuddy and show the finished result. If it is not ready, point at the screenshot here.]
One sentence in. Two suitable jobs, each with a match score and the reason it suits her. Every check passed. Nothing below the RM8.72 legal minimum, from either side. No job that needs sight. And zero applications sent without her say-so.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[2:35-2:50 | 15s]
Scan to try it with Nadia's sentence or your own. HireBuddy: work that gets done. Thank you.
[Before presenting: open the live app a minute early, because the free server takes about a minute to wake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Only jump here if WorkBuddy is slow or fails on stage. During rehearsal, replace both frames with screenshots of a finished WorkBuddy run for the slide 2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rtlCol="0"/>
          <a:lstStyle>
            <a:lvl1pPr algn="l" indent="0" marL="0">
              <a:buNone/>
              <a:defRPr lang="en-US" sz="6600" b="1" dirty="0">
                <a:solidFill>
                  <a:schemeClr val="accent1"/>
                </a:solidFill>
              </a:defRPr>
            </a:lvl1pPr>
          </a:lstStyle>
          <a:p>
            <a:pPr algn="l" indent="0" marL="0">
              <a:buNone/>
            </a:pP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
        <p:nvSpPr>
          <p:cNvPr id="4"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3"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hirebuddy-k543.onrender.com" TargetMode="External"/><Relationship Id="rId4" Type="http://schemas.openxmlformats.org/officeDocument/2006/relationships/hyperlink" Target="https://github.com/Josan88/job-buddy"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lIns="0" tIns="0" rIns="0" bIns="0" rtlCol="0" anchor="b"/>
          <a:lstStyle/>
          <a:p>
            <a:pPr algn="l" indent="0" marL="0">
              <a:buNone/>
            </a:pPr>
            <a:r>
              <a:rPr lang="en-US" sz="6600" b="1" dirty="0">
                <a:solidFill>
                  <a:schemeClr val="accent1"/>
                </a:solidFill>
              </a:rPr>
              <a:t>HireBuddy</a:t>
            </a: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lIns="0" tIns="0" rIns="0" bIns="0" rtlCol="0"/>
          <a:lstStyle/>
          <a:p>
            <a:pPr algn="l" indent="0" marL="0">
              <a:buNone/>
            </a:pPr>
            <a:r>
              <a:rPr lang="en-US" sz="2400" b="1" dirty="0">
                <a:solidFill>
                  <a:schemeClr val="bg1"/>
                </a:solidFill>
              </a:rPr>
              <a:t>One sentence in. Checked jobs out.</a:t>
            </a:r>
            <a:endParaRPr lang="en-US" sz="2400" dirty="0"/>
          </a:p>
        </p:txBody>
      </p:sp>
      <p:sp>
        <p:nvSpPr>
          <p:cNvPr id="4" name="Problem"/>
          <p:cNvSpPr txBox="1"/>
          <p:nvPr/>
        </p:nvSpPr>
        <p:spPr>
          <a:xfrm>
            <a:off x="548640" y="3886200"/>
            <a:ext cx="8686800" cy="914400"/>
          </a:xfrm>
          <a:prstGeom prst="rect">
            <a:avLst/>
          </a:prstGeom>
          <a:noFill/>
          <a:ln/>
        </p:spPr>
        <p:txBody>
          <a:bodyPr wrap="square" lIns="0" tIns="0" rIns="0" bIns="0" rtlCol="0" anchor="t"/>
          <a:lstStyle/>
          <a:p>
            <a:pPr indent="0" marL="0">
              <a:lnSpc>
                <a:spcPct val="130000"/>
              </a:lnSpc>
              <a:buNone/>
            </a:pPr>
            <a:r>
              <a:rPr lang="en-US" sz="1600" dirty="0">
                <a:solidFill>
                  <a:schemeClr val="bg2"/>
                </a:solidFill>
              </a:rPr>
              <a:t>In Malaysia, blind and low-vision job seekers struggle to find work because job search platforms are hard to use with a screen reader, and checking every listing for pay, hours, travel and sight requirements takes hours.</a:t>
            </a:r>
            <a:endParaRPr lang="en-US" sz="1600" dirty="0"/>
          </a:p>
        </p:txBody>
      </p:sp>
      <p:sp>
        <p:nvSpPr>
          <p:cNvPr id="5" name="Chip 1"/>
          <p:cNvSpPr txBox="1"/>
          <p:nvPr/>
        </p:nvSpPr>
        <p:spPr>
          <a:xfrm>
            <a:off x="548640" y="5120640"/>
            <a:ext cx="2514600" cy="457200"/>
          </a:xfrm>
          <a:prstGeom prst="roundRect">
            <a:avLst>
              <a:gd name="adj" fmla="val 16000"/>
            </a:avLst>
          </a:prstGeom>
          <a:solidFill>
            <a:srgbClr val="1E293B"/>
          </a:solidFill>
          <a:ln/>
        </p:spPr>
        <p:txBody>
          <a:bodyPr wrap="square" lIns="50800" tIns="50800" rIns="50800" bIns="50800" rtlCol="0" anchor="ctr"/>
          <a:lstStyle/>
          <a:p>
            <a:pPr algn="ctr" indent="0" marL="0">
              <a:buNone/>
            </a:pPr>
            <a:r>
              <a:rPr lang="en-US" sz="1300" b="1" dirty="0">
                <a:solidFill>
                  <a:schemeClr val="accent2"/>
                </a:solidFill>
              </a:rPr>
              <a:t>Runs inside WorkBuddy</a:t>
            </a:r>
            <a:endParaRPr lang="en-US" sz="1300" dirty="0"/>
          </a:p>
        </p:txBody>
      </p:sp>
      <p:sp>
        <p:nvSpPr>
          <p:cNvPr id="6" name="Chip 2"/>
          <p:cNvSpPr txBox="1"/>
          <p:nvPr/>
        </p:nvSpPr>
        <p:spPr>
          <a:xfrm>
            <a:off x="3246120" y="5120640"/>
            <a:ext cx="2514600" cy="457200"/>
          </a:xfrm>
          <a:prstGeom prst="roundRect">
            <a:avLst>
              <a:gd name="adj" fmla="val 16000"/>
            </a:avLst>
          </a:prstGeom>
          <a:solidFill>
            <a:srgbClr val="1E293B"/>
          </a:solidFill>
          <a:ln/>
        </p:spPr>
        <p:txBody>
          <a:bodyPr wrap="square" lIns="50800" tIns="50800" rIns="50800" bIns="50800" rtlCol="0" anchor="ctr"/>
          <a:lstStyle/>
          <a:p>
            <a:pPr algn="ctr" indent="0" marL="0">
              <a:buNone/>
            </a:pPr>
            <a:r>
              <a:rPr lang="en-US" sz="1300" b="1" dirty="0">
                <a:solidFill>
                  <a:schemeClr val="bg1"/>
                </a:solidFill>
              </a:rPr>
              <a:t>Built for screen readers</a:t>
            </a:r>
            <a:endParaRPr lang="en-US" sz="1300" dirty="0"/>
          </a:p>
        </p:txBody>
      </p:sp>
      <p:sp>
        <p:nvSpPr>
          <p:cNvPr id="7" name="Chip 3"/>
          <p:cNvSpPr txBox="1"/>
          <p:nvPr/>
        </p:nvSpPr>
        <p:spPr>
          <a:xfrm>
            <a:off x="5943600" y="5120640"/>
            <a:ext cx="2514600" cy="457200"/>
          </a:xfrm>
          <a:prstGeom prst="roundRect">
            <a:avLst>
              <a:gd name="adj" fmla="val 16000"/>
            </a:avLst>
          </a:prstGeom>
          <a:solidFill>
            <a:srgbClr val="1E293B"/>
          </a:solidFill>
          <a:ln/>
        </p:spPr>
        <p:txBody>
          <a:bodyPr wrap="square" lIns="50800" tIns="50800" rIns="50800" bIns="50800" rtlCol="0" anchor="ctr"/>
          <a:lstStyle/>
          <a:p>
            <a:pPr algn="ctr" indent="0" marL="0">
              <a:buNone/>
            </a:pPr>
            <a:r>
              <a:rPr lang="en-US" sz="1300" b="1" dirty="0">
                <a:solidFill>
                  <a:schemeClr val="bg1"/>
                </a:solidFill>
              </a:rPr>
              <a:t>Verifies its own work</a:t>
            </a:r>
            <a:endParaRPr lang="en-US" sz="13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One Prompt</a:t>
            </a:r>
            <a:endParaRPr lang="en-US" sz="3000" dirty="0"/>
          </a:p>
        </p:txBody>
      </p:sp>
      <p:sp>
        <p:nvSpPr>
          <p:cNvPr id="3" name="Quote card"/>
          <p:cNvSpPr/>
          <p:nvPr/>
        </p:nvSpPr>
        <p:spPr>
          <a:xfrm>
            <a:off x="548640" y="1417320"/>
            <a:ext cx="6400800" cy="4206240"/>
          </a:xfrm>
          <a:prstGeom prst="roundRect">
            <a:avLst>
              <a:gd name="adj" fmla="val 2174"/>
            </a:avLst>
          </a:prstGeom>
          <a:solidFill>
            <a:srgbClr val="1E293B"/>
          </a:solidFill>
          <a:ln/>
        </p:spPr>
      </p:sp>
      <p:sp>
        <p:nvSpPr>
          <p:cNvPr id="4" name="Quote"/>
          <p:cNvSpPr txBox="1"/>
          <p:nvPr/>
        </p:nvSpPr>
        <p:spPr>
          <a:xfrm>
            <a:off x="868680" y="1645920"/>
            <a:ext cx="5760720" cy="3749040"/>
          </a:xfrm>
          <a:prstGeom prst="rect">
            <a:avLst/>
          </a:prstGeom>
          <a:noFill/>
          <a:ln/>
        </p:spPr>
        <p:txBody>
          <a:bodyPr wrap="square" lIns="0" tIns="0" rIns="0" bIns="0" rtlCol="0" anchor="ctr"/>
          <a:lstStyle/>
          <a:p>
            <a:pPr indent="0" marL="0">
              <a:lnSpc>
                <a:spcPct val="130000"/>
              </a:lnSpc>
              <a:buNone/>
            </a:pPr>
            <a:r>
              <a:rPr lang="en-US" sz="2600" i="1" dirty="0">
                <a:solidFill>
                  <a:schemeClr val="bg1"/>
                </a:solidFill>
              </a:rPr>
              <a:t>"I'm Nadia, blind, NVDA user in Subang Jaya. I type fast in English and Malay. Weekdays 9am-5pm, min RM12/hr. Resume is in Documents."</a:t>
            </a:r>
            <a:endParaRPr lang="en-US" sz="2600" dirty="0"/>
          </a:p>
        </p:txBody>
      </p:sp>
      <p:sp>
        <p:nvSpPr>
          <p:cNvPr id="5" name="Group 1"/>
          <p:cNvSpPr txBox="1"/>
          <p:nvPr/>
        </p:nvSpPr>
        <p:spPr>
          <a:xfrm>
            <a:off x="7406640" y="1325880"/>
            <a:ext cx="4206240" cy="320040"/>
          </a:xfrm>
          <a:prstGeom prst="rect">
            <a:avLst/>
          </a:prstGeom>
          <a:noFill/>
          <a:ln/>
        </p:spPr>
        <p:txBody>
          <a:bodyPr wrap="square" lIns="0" tIns="0" rIns="0" bIns="0" rtlCol="0" anchor="ctr"/>
          <a:lstStyle/>
          <a:p>
            <a:pPr indent="0" marL="0">
              <a:buNone/>
            </a:pPr>
            <a:r>
              <a:rPr lang="en-US" sz="1400" b="1" dirty="0">
                <a:solidFill>
                  <a:schemeClr val="accent1"/>
                </a:solidFill>
              </a:rPr>
              <a:t>From her sentence</a:t>
            </a:r>
            <a:endParaRPr lang="en-US" sz="1400" dirty="0"/>
          </a:p>
        </p:txBody>
      </p:sp>
      <p:sp>
        <p:nvSpPr>
          <p:cNvPr id="6" name="Dot 1"/>
          <p:cNvSpPr/>
          <p:nvPr/>
        </p:nvSpPr>
        <p:spPr>
          <a:xfrm>
            <a:off x="7406640" y="1828800"/>
            <a:ext cx="146304" cy="146304"/>
          </a:xfrm>
          <a:prstGeom prst="ellipse">
            <a:avLst/>
          </a:prstGeom>
          <a:solidFill>
            <a:srgbClr val="3B82F6"/>
          </a:solidFill>
          <a:ln/>
        </p:spPr>
      </p:sp>
      <p:sp>
        <p:nvSpPr>
          <p:cNvPr id="7" name="Need 1"/>
          <p:cNvSpPr txBox="1"/>
          <p:nvPr/>
        </p:nvSpPr>
        <p:spPr>
          <a:xfrm>
            <a:off x="7680960" y="1737360"/>
            <a:ext cx="3931920" cy="548640"/>
          </a:xfrm>
          <a:prstGeom prst="rect">
            <a:avLst/>
          </a:prstGeom>
          <a:noFill/>
          <a:ln/>
        </p:spPr>
        <p:txBody>
          <a:bodyPr wrap="square" lIns="0" tIns="0" rIns="0" bIns="0" rtlCol="0" anchor="t"/>
          <a:lstStyle/>
          <a:p>
            <a:pPr indent="0" marL="0">
              <a:buNone/>
            </a:pPr>
            <a:r>
              <a:rPr lang="en-US" sz="1500" b="1" dirty="0">
                <a:solidFill>
                  <a:schemeClr val="bg1"/>
                </a:solidFill>
              </a:rPr>
              <a:t>Blind, uses NVDA</a:t>
            </a:r>
            <a:endParaRPr lang="en-US" sz="1500" dirty="0"/>
          </a:p>
          <a:p>
            <a:pPr indent="0" marL="0">
              <a:buNone/>
            </a:pPr>
            <a:r>
              <a:rPr lang="en-US" sz="1200" dirty="0">
                <a:solidFill>
                  <a:schemeClr val="bg2"/>
                </a:solidFill>
              </a:rPr>
              <a:t>no tasks that need sight</a:t>
            </a:r>
            <a:endParaRPr lang="en-US" sz="1500" dirty="0"/>
          </a:p>
        </p:txBody>
      </p:sp>
      <p:sp>
        <p:nvSpPr>
          <p:cNvPr id="8" name="Dot 2"/>
          <p:cNvSpPr/>
          <p:nvPr/>
        </p:nvSpPr>
        <p:spPr>
          <a:xfrm>
            <a:off x="7406640" y="2432304"/>
            <a:ext cx="146304" cy="146304"/>
          </a:xfrm>
          <a:prstGeom prst="ellipse">
            <a:avLst/>
          </a:prstGeom>
          <a:solidFill>
            <a:srgbClr val="3B82F6"/>
          </a:solidFill>
          <a:ln/>
        </p:spPr>
      </p:sp>
      <p:sp>
        <p:nvSpPr>
          <p:cNvPr id="9" name="Need 2"/>
          <p:cNvSpPr txBox="1"/>
          <p:nvPr/>
        </p:nvSpPr>
        <p:spPr>
          <a:xfrm>
            <a:off x="7680960" y="2340864"/>
            <a:ext cx="3931920" cy="548640"/>
          </a:xfrm>
          <a:prstGeom prst="rect">
            <a:avLst/>
          </a:prstGeom>
          <a:noFill/>
          <a:ln/>
        </p:spPr>
        <p:txBody>
          <a:bodyPr wrap="square" lIns="0" tIns="0" rIns="0" bIns="0" rtlCol="0" anchor="t"/>
          <a:lstStyle/>
          <a:p>
            <a:pPr indent="0" marL="0">
              <a:buNone/>
            </a:pPr>
            <a:r>
              <a:rPr lang="en-US" sz="1500" b="1" dirty="0">
                <a:solidFill>
                  <a:schemeClr val="bg1"/>
                </a:solidFill>
              </a:rPr>
              <a:t>Subang Jaya</a:t>
            </a:r>
            <a:endParaRPr lang="en-US" sz="1500" dirty="0"/>
          </a:p>
          <a:p>
            <a:pPr indent="0" marL="0">
              <a:buNone/>
            </a:pPr>
            <a:r>
              <a:rPr lang="en-US" sz="1200" dirty="0">
                <a:solidFill>
                  <a:schemeClr val="bg2"/>
                </a:solidFill>
              </a:rPr>
              <a:t>near a train stop</a:t>
            </a:r>
            <a:endParaRPr lang="en-US" sz="1500" dirty="0"/>
          </a:p>
        </p:txBody>
      </p:sp>
      <p:sp>
        <p:nvSpPr>
          <p:cNvPr id="10" name="Dot 3"/>
          <p:cNvSpPr/>
          <p:nvPr/>
        </p:nvSpPr>
        <p:spPr>
          <a:xfrm>
            <a:off x="7406640" y="3035808"/>
            <a:ext cx="146304" cy="146304"/>
          </a:xfrm>
          <a:prstGeom prst="ellipse">
            <a:avLst/>
          </a:prstGeom>
          <a:solidFill>
            <a:srgbClr val="3B82F6"/>
          </a:solidFill>
          <a:ln/>
        </p:spPr>
      </p:sp>
      <p:sp>
        <p:nvSpPr>
          <p:cNvPr id="11" name="Need 3"/>
          <p:cNvSpPr txBox="1"/>
          <p:nvPr/>
        </p:nvSpPr>
        <p:spPr>
          <a:xfrm>
            <a:off x="7680960" y="2944368"/>
            <a:ext cx="3931920" cy="548640"/>
          </a:xfrm>
          <a:prstGeom prst="rect">
            <a:avLst/>
          </a:prstGeom>
          <a:noFill/>
          <a:ln/>
        </p:spPr>
        <p:txBody>
          <a:bodyPr wrap="square" lIns="0" tIns="0" rIns="0" bIns="0" rtlCol="0" anchor="t"/>
          <a:lstStyle/>
          <a:p>
            <a:pPr indent="0" marL="0">
              <a:buNone/>
            </a:pPr>
            <a:r>
              <a:rPr lang="en-US" sz="1500" b="1" dirty="0">
                <a:solidFill>
                  <a:schemeClr val="bg1"/>
                </a:solidFill>
              </a:rPr>
              <a:t>English, Malay, fast typing</a:t>
            </a:r>
            <a:endParaRPr lang="en-US" sz="1500" dirty="0"/>
          </a:p>
          <a:p>
            <a:pPr indent="0" marL="0">
              <a:buNone/>
            </a:pPr>
            <a:r>
              <a:rPr lang="en-US" sz="1200" dirty="0">
                <a:solidFill>
                  <a:schemeClr val="bg2"/>
                </a:solidFill>
              </a:rPr>
              <a:t>skills matched to each job</a:t>
            </a:r>
            <a:endParaRPr lang="en-US" sz="1500" dirty="0"/>
          </a:p>
        </p:txBody>
      </p:sp>
      <p:sp>
        <p:nvSpPr>
          <p:cNvPr id="12" name="Dot 4"/>
          <p:cNvSpPr/>
          <p:nvPr/>
        </p:nvSpPr>
        <p:spPr>
          <a:xfrm>
            <a:off x="7406640" y="3639312"/>
            <a:ext cx="146304" cy="146304"/>
          </a:xfrm>
          <a:prstGeom prst="ellipse">
            <a:avLst/>
          </a:prstGeom>
          <a:solidFill>
            <a:srgbClr val="3B82F6"/>
          </a:solidFill>
          <a:ln/>
        </p:spPr>
      </p:sp>
      <p:sp>
        <p:nvSpPr>
          <p:cNvPr id="13" name="Need 4"/>
          <p:cNvSpPr txBox="1"/>
          <p:nvPr/>
        </p:nvSpPr>
        <p:spPr>
          <a:xfrm>
            <a:off x="7680960" y="3547872"/>
            <a:ext cx="3931920" cy="548640"/>
          </a:xfrm>
          <a:prstGeom prst="rect">
            <a:avLst/>
          </a:prstGeom>
          <a:noFill/>
          <a:ln/>
        </p:spPr>
        <p:txBody>
          <a:bodyPr wrap="square" lIns="0" tIns="0" rIns="0" bIns="0" rtlCol="0" anchor="t"/>
          <a:lstStyle/>
          <a:p>
            <a:pPr indent="0" marL="0">
              <a:buNone/>
            </a:pPr>
            <a:r>
              <a:rPr lang="en-US" sz="1500" b="1" dirty="0">
                <a:solidFill>
                  <a:schemeClr val="bg1"/>
                </a:solidFill>
              </a:rPr>
              <a:t>Weekdays 9 to 5</a:t>
            </a:r>
            <a:endParaRPr lang="en-US" sz="1500" dirty="0"/>
          </a:p>
          <a:p>
            <a:pPr indent="0" marL="0">
              <a:buNone/>
            </a:pPr>
            <a:r>
              <a:rPr lang="en-US" sz="1200" dirty="0">
                <a:solidFill>
                  <a:schemeClr val="bg2"/>
                </a:solidFill>
              </a:rPr>
              <a:t>shift must fit</a:t>
            </a:r>
            <a:endParaRPr lang="en-US" sz="1500" dirty="0"/>
          </a:p>
        </p:txBody>
      </p:sp>
      <p:sp>
        <p:nvSpPr>
          <p:cNvPr id="14" name="Dot 5"/>
          <p:cNvSpPr/>
          <p:nvPr/>
        </p:nvSpPr>
        <p:spPr>
          <a:xfrm>
            <a:off x="7406640" y="4242816"/>
            <a:ext cx="146304" cy="146304"/>
          </a:xfrm>
          <a:prstGeom prst="ellipse">
            <a:avLst/>
          </a:prstGeom>
          <a:solidFill>
            <a:srgbClr val="3B82F6"/>
          </a:solidFill>
          <a:ln/>
        </p:spPr>
      </p:sp>
      <p:sp>
        <p:nvSpPr>
          <p:cNvPr id="15" name="Need 5"/>
          <p:cNvSpPr txBox="1"/>
          <p:nvPr/>
        </p:nvSpPr>
        <p:spPr>
          <a:xfrm>
            <a:off x="7680960" y="4151376"/>
            <a:ext cx="3931920" cy="548640"/>
          </a:xfrm>
          <a:prstGeom prst="rect">
            <a:avLst/>
          </a:prstGeom>
          <a:noFill/>
          <a:ln/>
        </p:spPr>
        <p:txBody>
          <a:bodyPr wrap="square" lIns="0" tIns="0" rIns="0" bIns="0" rtlCol="0" anchor="t"/>
          <a:lstStyle/>
          <a:p>
            <a:pPr indent="0" marL="0">
              <a:buNone/>
            </a:pPr>
            <a:r>
              <a:rPr lang="en-US" sz="1500" b="1" dirty="0">
                <a:solidFill>
                  <a:schemeClr val="bg1"/>
                </a:solidFill>
              </a:rPr>
              <a:t>RM12/hr minimum</a:t>
            </a:r>
            <a:endParaRPr lang="en-US" sz="1500" dirty="0"/>
          </a:p>
          <a:p>
            <a:pPr indent="0" marL="0">
              <a:buNone/>
            </a:pPr>
            <a:r>
              <a:rPr lang="en-US" sz="1200" dirty="0">
                <a:solidFill>
                  <a:schemeClr val="bg2"/>
                </a:solidFill>
              </a:rPr>
              <a:t>and never below RM8.72 legal</a:t>
            </a:r>
            <a:endParaRPr lang="en-US" sz="1500" dirty="0"/>
          </a:p>
        </p:txBody>
      </p:sp>
      <p:sp>
        <p:nvSpPr>
          <p:cNvPr id="16" name="Group 2"/>
          <p:cNvSpPr txBox="1"/>
          <p:nvPr/>
        </p:nvSpPr>
        <p:spPr>
          <a:xfrm>
            <a:off x="7406640" y="4892040"/>
            <a:ext cx="4206240" cy="320040"/>
          </a:xfrm>
          <a:prstGeom prst="rect">
            <a:avLst/>
          </a:prstGeom>
          <a:noFill/>
          <a:ln/>
        </p:spPr>
        <p:txBody>
          <a:bodyPr wrap="square" lIns="0" tIns="0" rIns="0" bIns="0" rtlCol="0" anchor="ctr"/>
          <a:lstStyle/>
          <a:p>
            <a:pPr indent="0" marL="0">
              <a:buNone/>
            </a:pPr>
            <a:r>
              <a:rPr lang="en-US" sz="1400" b="1" dirty="0">
                <a:solidFill>
                  <a:schemeClr val="accent2"/>
                </a:solidFill>
              </a:rPr>
              <a:t>From her resume, read by WorkBuddy</a:t>
            </a:r>
            <a:endParaRPr lang="en-US" sz="1400" dirty="0"/>
          </a:p>
        </p:txBody>
      </p:sp>
      <p:sp>
        <p:nvSpPr>
          <p:cNvPr id="17" name="Dot 6"/>
          <p:cNvSpPr/>
          <p:nvPr/>
        </p:nvSpPr>
        <p:spPr>
          <a:xfrm>
            <a:off x="7406640" y="5394960"/>
            <a:ext cx="146304" cy="146304"/>
          </a:xfrm>
          <a:prstGeom prst="ellipse">
            <a:avLst/>
          </a:prstGeom>
          <a:solidFill>
            <a:srgbClr val="10B981"/>
          </a:solidFill>
          <a:ln/>
        </p:spPr>
      </p:sp>
      <p:sp>
        <p:nvSpPr>
          <p:cNvPr id="18" name="Need 6"/>
          <p:cNvSpPr txBox="1"/>
          <p:nvPr/>
        </p:nvSpPr>
        <p:spPr>
          <a:xfrm>
            <a:off x="7680960" y="5303520"/>
            <a:ext cx="3931920" cy="548640"/>
          </a:xfrm>
          <a:prstGeom prst="rect">
            <a:avLst/>
          </a:prstGeom>
          <a:noFill/>
          <a:ln/>
        </p:spPr>
        <p:txBody>
          <a:bodyPr wrap="square" lIns="0" tIns="0" rIns="0" bIns="0" rtlCol="0" anchor="t"/>
          <a:lstStyle/>
          <a:p>
            <a:pPr indent="0" marL="0">
              <a:buNone/>
            </a:pPr>
            <a:r>
              <a:rPr lang="en-US" sz="1500" b="1" dirty="0">
                <a:solidFill>
                  <a:schemeClr val="bg1"/>
                </a:solidFill>
              </a:rPr>
              <a:t>Bank hotline, 1 year</a:t>
            </a:r>
            <a:endParaRPr lang="en-US" sz="1500" dirty="0"/>
          </a:p>
          <a:p>
            <a:pPr indent="0" marL="0">
              <a:buNone/>
            </a:pPr>
            <a:r>
              <a:rPr lang="en-US" sz="1200" dirty="0">
                <a:solidFill>
                  <a:schemeClr val="bg2"/>
                </a:solidFill>
              </a:rPr>
              <a:t>saved to her profile for her application</a:t>
            </a:r>
            <a:endParaRPr lang="en-US" sz="15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WorkBuddy Is the Engine</a:t>
            </a:r>
            <a:endParaRPr lang="en-US" sz="3000" dirty="0"/>
          </a:p>
        </p:txBody>
      </p:sp>
      <p:sp>
        <p:nvSpPr>
          <p:cNvPr id="3" name="Subtitle"/>
          <p:cNvSpPr txBox="1"/>
          <p:nvPr/>
        </p:nvSpPr>
        <p:spPr>
          <a:xfrm>
            <a:off x="548640" y="1005840"/>
            <a:ext cx="10972800" cy="411480"/>
          </a:xfrm>
          <a:prstGeom prst="rect">
            <a:avLst/>
          </a:prstGeom>
          <a:noFill/>
          <a:ln/>
        </p:spPr>
        <p:txBody>
          <a:bodyPr wrap="square" lIns="0" tIns="0" rIns="0" bIns="0" rtlCol="0" anchor="ctr"/>
          <a:lstStyle/>
          <a:p>
            <a:pPr indent="0" marL="0">
              <a:buNone/>
            </a:pPr>
            <a:r>
              <a:rPr lang="en-US" sz="1500" dirty="0">
                <a:solidFill>
                  <a:schemeClr val="bg2"/>
                </a:solidFill>
              </a:rPr>
              <a:t>Our skill drives WorkBuddy end to end: its file access, web search and email, plus our MCP tools.</a:t>
            </a:r>
            <a:endParaRPr lang="en-US" sz="1500" dirty="0"/>
          </a:p>
        </p:txBody>
      </p:sp>
      <p:sp>
        <p:nvSpPr>
          <p:cNvPr id="4" name="WorkBuddy prompt"/>
          <p:cNvSpPr txBox="1"/>
          <p:nvPr/>
        </p:nvSpPr>
        <p:spPr>
          <a:xfrm>
            <a:off x="548640" y="2011680"/>
            <a:ext cx="132588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200" b="1" dirty="0">
                <a:solidFill>
                  <a:schemeClr val="bg1"/>
                </a:solidFill>
              </a:rPr>
              <a:t>WorkBuddy</a:t>
            </a:r>
            <a:endParaRPr lang="en-US" sz="1200" dirty="0"/>
          </a:p>
          <a:p>
            <a:pPr algn="ctr" indent="0" marL="0">
              <a:buNone/>
            </a:pPr>
            <a:r>
              <a:rPr lang="en-US" sz="1200" b="1" dirty="0">
                <a:solidFill>
                  <a:schemeClr val="bg1"/>
                </a:solidFill>
              </a:rPr>
              <a:t>her sentence</a:t>
            </a:r>
            <a:endParaRPr lang="en-US" sz="1200" dirty="0"/>
          </a:p>
        </p:txBody>
      </p:sp>
      <p:sp>
        <p:nvSpPr>
          <p:cNvPr id="5" name="Arrow 1"/>
          <p:cNvSpPr/>
          <p:nvPr/>
        </p:nvSpPr>
        <p:spPr>
          <a:xfrm>
            <a:off x="1874520" y="2468880"/>
            <a:ext cx="256032" cy="0"/>
          </a:xfrm>
          <a:prstGeom prst="line">
            <a:avLst/>
          </a:prstGeom>
          <a:noFill/>
          <a:ln w="25400">
            <a:solidFill>
              <a:schemeClr val="accent5"/>
            </a:solidFill>
            <a:prstDash val="solid"/>
            <a:tailEnd type="triangle"/>
          </a:ln>
        </p:spPr>
      </p:sp>
      <p:sp>
        <p:nvSpPr>
          <p:cNvPr id="6" name="Find resume"/>
          <p:cNvSpPr txBox="1"/>
          <p:nvPr/>
        </p:nvSpPr>
        <p:spPr>
          <a:xfrm>
            <a:off x="2130552" y="2011680"/>
            <a:ext cx="155448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100" b="1" dirty="0">
                <a:solidFill>
                  <a:schemeClr val="bg1"/>
                </a:solidFill>
              </a:rPr>
              <a:t>Finds + reads</a:t>
            </a:r>
            <a:endParaRPr lang="en-US" sz="1100" dirty="0"/>
          </a:p>
          <a:p>
            <a:pPr algn="ctr" indent="0" marL="0">
              <a:buNone/>
            </a:pPr>
            <a:r>
              <a:rPr lang="en-US" sz="1100" b="1" dirty="0">
                <a:solidFill>
                  <a:schemeClr val="bg1"/>
                </a:solidFill>
              </a:rPr>
              <a:t>her resume in</a:t>
            </a:r>
            <a:endParaRPr lang="en-US" sz="1100" dirty="0"/>
          </a:p>
          <a:p>
            <a:pPr algn="ctr" indent="0" marL="0">
              <a:buNone/>
            </a:pPr>
            <a:r>
              <a:rPr lang="en-US" sz="1100" b="1" dirty="0">
                <a:solidFill>
                  <a:schemeClr val="bg1"/>
                </a:solidFill>
              </a:rPr>
              <a:t>Documents</a:t>
            </a:r>
            <a:endParaRPr lang="en-US" sz="1100" dirty="0"/>
          </a:p>
        </p:txBody>
      </p:sp>
      <p:sp>
        <p:nvSpPr>
          <p:cNvPr id="7" name="Arrow 2"/>
          <p:cNvSpPr/>
          <p:nvPr/>
        </p:nvSpPr>
        <p:spPr>
          <a:xfrm>
            <a:off x="3685032" y="2468880"/>
            <a:ext cx="256032" cy="0"/>
          </a:xfrm>
          <a:prstGeom prst="line">
            <a:avLst/>
          </a:prstGeom>
          <a:noFill/>
          <a:ln w="25400">
            <a:solidFill>
              <a:schemeClr val="accent5"/>
            </a:solidFill>
            <a:prstDash val="solid"/>
            <a:tailEnd type="triangle"/>
          </a:ln>
        </p:spPr>
      </p:sp>
      <p:sp>
        <p:nvSpPr>
          <p:cNvPr id="8" name="Search job sites"/>
          <p:cNvSpPr txBox="1"/>
          <p:nvPr/>
        </p:nvSpPr>
        <p:spPr>
          <a:xfrm>
            <a:off x="3941064" y="1600200"/>
            <a:ext cx="2057400" cy="777240"/>
          </a:xfrm>
          <a:prstGeom prst="roundRect">
            <a:avLst>
              <a:gd name="adj" fmla="val 9412"/>
            </a:avLst>
          </a:prstGeom>
          <a:solidFill>
            <a:srgbClr val="1E293B"/>
          </a:solidFill>
          <a:ln w="12700">
            <a:solidFill>
              <a:srgbClr val="3B82F6"/>
            </a:solidFill>
          </a:ln>
        </p:spPr>
        <p:txBody>
          <a:bodyPr wrap="square" lIns="50800" tIns="50800" rIns="50800" bIns="50800" rtlCol="0" anchor="ctr"/>
          <a:lstStyle/>
          <a:p>
            <a:pPr algn="ctr" indent="0" marL="0">
              <a:buNone/>
            </a:pPr>
            <a:r>
              <a:rPr lang="en-US" sz="1100" b="1" dirty="0">
                <a:solidFill>
                  <a:schemeClr val="bg1"/>
                </a:solidFill>
              </a:rPr>
              <a:t>Searches JobStreet,</a:t>
            </a:r>
            <a:endParaRPr lang="en-US" sz="1100" dirty="0"/>
          </a:p>
          <a:p>
            <a:pPr algn="ctr" indent="0" marL="0">
              <a:buNone/>
            </a:pPr>
            <a:r>
              <a:rPr lang="en-US" sz="1100" b="1" dirty="0">
                <a:solidFill>
                  <a:schemeClr val="bg1"/>
                </a:solidFill>
              </a:rPr>
              <a:t>Indeed, Hiredly</a:t>
            </a:r>
            <a:endParaRPr lang="en-US" sz="1100" dirty="0"/>
          </a:p>
        </p:txBody>
      </p:sp>
      <p:sp>
        <p:nvSpPr>
          <p:cNvPr id="9" name="Understand"/>
          <p:cNvSpPr txBox="1"/>
          <p:nvPr/>
        </p:nvSpPr>
        <p:spPr>
          <a:xfrm>
            <a:off x="3941064" y="2560320"/>
            <a:ext cx="2057400" cy="777240"/>
          </a:xfrm>
          <a:prstGeom prst="roundRect">
            <a:avLst>
              <a:gd name="adj" fmla="val 9412"/>
            </a:avLst>
          </a:prstGeom>
          <a:solidFill>
            <a:srgbClr val="3B82F6"/>
          </a:solidFill>
          <a:ln/>
        </p:spPr>
        <p:txBody>
          <a:bodyPr wrap="square" lIns="50800" tIns="50800" rIns="50800" bIns="50800" rtlCol="0" anchor="ctr"/>
          <a:lstStyle/>
          <a:p>
            <a:pPr algn="ctr" indent="0" marL="0">
              <a:buNone/>
            </a:pPr>
            <a:r>
              <a:rPr lang="en-US" sz="1100" b="1" dirty="0">
                <a:solidFill>
                  <a:schemeClr val="bg1"/>
                </a:solidFill>
              </a:rPr>
              <a:t>hirebuddy_1_</a:t>
            </a:r>
            <a:endParaRPr lang="en-US" sz="1100" dirty="0"/>
          </a:p>
          <a:p>
            <a:pPr algn="ctr" indent="0" marL="0">
              <a:buNone/>
            </a:pPr>
            <a:r>
              <a:rPr lang="en-US" sz="1100" b="1" dirty="0">
                <a:solidFill>
                  <a:schemeClr val="bg1"/>
                </a:solidFill>
              </a:rPr>
              <a:t>understand</a:t>
            </a:r>
            <a:endParaRPr lang="en-US" sz="1100" dirty="0"/>
          </a:p>
        </p:txBody>
      </p:sp>
      <p:sp>
        <p:nvSpPr>
          <p:cNvPr id="10" name="Parallel label"/>
          <p:cNvSpPr txBox="1"/>
          <p:nvPr/>
        </p:nvSpPr>
        <p:spPr>
          <a:xfrm>
            <a:off x="3941064" y="3401568"/>
            <a:ext cx="2057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in parallel</a:t>
            </a:r>
            <a:endParaRPr lang="en-US" sz="1100" dirty="0"/>
          </a:p>
        </p:txBody>
      </p:sp>
      <p:sp>
        <p:nvSpPr>
          <p:cNvPr id="11" name="Arrow 3a"/>
          <p:cNvSpPr/>
          <p:nvPr/>
        </p:nvSpPr>
        <p:spPr>
          <a:xfrm>
            <a:off x="5998464" y="1984248"/>
            <a:ext cx="292608" cy="411480"/>
          </a:xfrm>
          <a:prstGeom prst="line">
            <a:avLst/>
          </a:prstGeom>
          <a:noFill/>
          <a:ln w="25400">
            <a:solidFill>
              <a:schemeClr val="accent5"/>
            </a:solidFill>
            <a:prstDash val="solid"/>
            <a:tailEnd type="triangle"/>
          </a:ln>
        </p:spPr>
      </p:sp>
      <p:sp>
        <p:nvSpPr>
          <p:cNvPr id="12" name="Arrow 3b"/>
          <p:cNvSpPr/>
          <p:nvPr/>
        </p:nvSpPr>
        <p:spPr>
          <a:xfrm flipV="1">
            <a:off x="5998464" y="2532888"/>
            <a:ext cx="292608" cy="411480"/>
          </a:xfrm>
          <a:prstGeom prst="line">
            <a:avLst/>
          </a:prstGeom>
          <a:noFill/>
          <a:ln w="25400">
            <a:solidFill>
              <a:schemeClr val="accent5"/>
            </a:solidFill>
            <a:prstDash val="solid"/>
            <a:tailEnd type="triangle"/>
          </a:ln>
        </p:spPr>
      </p:sp>
      <p:sp>
        <p:nvSpPr>
          <p:cNvPr id="13" name="Check jobs"/>
          <p:cNvSpPr txBox="1"/>
          <p:nvPr/>
        </p:nvSpPr>
        <p:spPr>
          <a:xfrm>
            <a:off x="6291072" y="2011680"/>
            <a:ext cx="1783080" cy="914400"/>
          </a:xfrm>
          <a:prstGeom prst="roundRect">
            <a:avLst>
              <a:gd name="adj" fmla="val 8000"/>
            </a:avLst>
          </a:prstGeom>
          <a:solidFill>
            <a:srgbClr val="3B82F6"/>
          </a:solidFill>
          <a:ln/>
        </p:spPr>
        <p:txBody>
          <a:bodyPr wrap="square" lIns="50800" tIns="50800" rIns="50800" bIns="50800" rtlCol="0" anchor="ctr"/>
          <a:lstStyle/>
          <a:p>
            <a:pPr algn="ctr" indent="0" marL="0">
              <a:buNone/>
            </a:pPr>
            <a:r>
              <a:rPr lang="en-US" sz="1100" b="1" dirty="0">
                <a:solidFill>
                  <a:schemeClr val="bg1"/>
                </a:solidFill>
              </a:rPr>
              <a:t>hirebuddy_2_</a:t>
            </a:r>
            <a:endParaRPr lang="en-US" sz="1100" dirty="0"/>
          </a:p>
          <a:p>
            <a:pPr algn="ctr" indent="0" marL="0">
              <a:buNone/>
            </a:pPr>
            <a:r>
              <a:rPr lang="en-US" sz="1100" b="1" dirty="0">
                <a:solidFill>
                  <a:schemeClr val="bg1"/>
                </a:solidFill>
              </a:rPr>
              <a:t>check_jobs</a:t>
            </a:r>
            <a:endParaRPr lang="en-US" sz="1100" dirty="0"/>
          </a:p>
          <a:p>
            <a:pPr algn="ctr" indent="0" marL="0">
              <a:buNone/>
            </a:pPr>
            <a:r>
              <a:rPr lang="en-US" sz="1100" b="1" dirty="0">
                <a:solidFill>
                  <a:schemeClr val="bg1"/>
                </a:solidFill>
              </a:rPr>
              <a:t>pay, travel, sight</a:t>
            </a:r>
            <a:endParaRPr lang="en-US" sz="1100" dirty="0"/>
          </a:p>
        </p:txBody>
      </p:sp>
      <p:sp>
        <p:nvSpPr>
          <p:cNvPr id="14" name="Arrow 4"/>
          <p:cNvSpPr/>
          <p:nvPr/>
        </p:nvSpPr>
        <p:spPr>
          <a:xfrm>
            <a:off x="8074152" y="2468880"/>
            <a:ext cx="256032" cy="0"/>
          </a:xfrm>
          <a:prstGeom prst="line">
            <a:avLst/>
          </a:prstGeom>
          <a:noFill/>
          <a:ln w="25400">
            <a:solidFill>
              <a:schemeClr val="accent5"/>
            </a:solidFill>
            <a:prstDash val="solid"/>
            <a:tailEnd type="triangle"/>
          </a:ln>
        </p:spPr>
      </p:sp>
      <p:sp>
        <p:nvSpPr>
          <p:cNvPr id="15" name="Verify"/>
          <p:cNvSpPr txBox="1"/>
          <p:nvPr/>
        </p:nvSpPr>
        <p:spPr>
          <a:xfrm>
            <a:off x="8330184" y="2011680"/>
            <a:ext cx="1417320" cy="914400"/>
          </a:xfrm>
          <a:prstGeom prst="roundRect">
            <a:avLst>
              <a:gd name="adj" fmla="val 8000"/>
            </a:avLst>
          </a:prstGeom>
          <a:solidFill>
            <a:srgbClr val="10B981"/>
          </a:solidFill>
          <a:ln/>
        </p:spPr>
        <p:txBody>
          <a:bodyPr wrap="square" lIns="50800" tIns="50800" rIns="50800" bIns="50800" rtlCol="0" anchor="ctr"/>
          <a:lstStyle/>
          <a:p>
            <a:pPr algn="ctr" indent="0" marL="0">
              <a:buNone/>
            </a:pPr>
            <a:r>
              <a:rPr lang="en-US" sz="1100" b="1" dirty="0">
                <a:solidFill>
                  <a:schemeClr val="bg1"/>
                </a:solidFill>
              </a:rPr>
              <a:t>hirebuddy_4_</a:t>
            </a:r>
            <a:endParaRPr lang="en-US" sz="1100" dirty="0"/>
          </a:p>
          <a:p>
            <a:pPr algn="ctr" indent="0" marL="0">
              <a:buNone/>
            </a:pPr>
            <a:r>
              <a:rPr lang="en-US" sz="1100" b="1" dirty="0">
                <a:solidFill>
                  <a:schemeClr val="bg1"/>
                </a:solidFill>
              </a:rPr>
              <a:t>verify</a:t>
            </a:r>
            <a:endParaRPr lang="en-US" sz="1100" dirty="0"/>
          </a:p>
          <a:p>
            <a:pPr algn="ctr" indent="0" marL="0">
              <a:buNone/>
            </a:pPr>
            <a:r>
              <a:rPr lang="en-US" sz="1100" b="1" dirty="0">
                <a:solidFill>
                  <a:schemeClr val="bg1"/>
                </a:solidFill>
              </a:rPr>
              <a:t>must pass</a:t>
            </a:r>
            <a:endParaRPr lang="en-US" sz="1100" dirty="0"/>
          </a:p>
        </p:txBody>
      </p:sp>
      <p:sp>
        <p:nvSpPr>
          <p:cNvPr id="16" name="Arrow 5"/>
          <p:cNvSpPr/>
          <p:nvPr/>
        </p:nvSpPr>
        <p:spPr>
          <a:xfrm>
            <a:off x="9747504" y="2468880"/>
            <a:ext cx="256032" cy="0"/>
          </a:xfrm>
          <a:prstGeom prst="line">
            <a:avLst/>
          </a:prstGeom>
          <a:noFill/>
          <a:ln w="25400">
            <a:solidFill>
              <a:schemeClr val="accent5"/>
            </a:solidFill>
            <a:prstDash val="solid"/>
            <a:tailEnd type="triangle"/>
          </a:ln>
        </p:spPr>
      </p:sp>
      <p:sp>
        <p:nvSpPr>
          <p:cNvPr id="17" name="Deliver"/>
          <p:cNvSpPr txBox="1"/>
          <p:nvPr/>
        </p:nvSpPr>
        <p:spPr>
          <a:xfrm>
            <a:off x="10003536" y="2011680"/>
            <a:ext cx="1636776"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100" b="1" dirty="0">
                <a:solidFill>
                  <a:schemeClr val="bg1"/>
                </a:solidFill>
              </a:rPr>
              <a:t>Results + drafts</a:t>
            </a:r>
            <a:endParaRPr lang="en-US" sz="1100" dirty="0"/>
          </a:p>
          <a:p>
            <a:pPr algn="ctr" indent="0" marL="0">
              <a:buNone/>
            </a:pPr>
            <a:r>
              <a:rPr lang="en-US" sz="1100" b="1" dirty="0">
                <a:solidFill>
                  <a:schemeClr val="bg1"/>
                </a:solidFill>
              </a:rPr>
              <a:t>saved on her PC</a:t>
            </a:r>
            <a:endParaRPr lang="en-US" sz="1100" dirty="0"/>
          </a:p>
        </p:txBody>
      </p:sp>
      <p:sp>
        <p:nvSpPr>
          <p:cNvPr id="18" name="Card 1"/>
          <p:cNvSpPr/>
          <p:nvPr/>
        </p:nvSpPr>
        <p:spPr>
          <a:xfrm>
            <a:off x="548640" y="4069080"/>
            <a:ext cx="2606040" cy="1600200"/>
          </a:xfrm>
          <a:prstGeom prst="roundRect">
            <a:avLst>
              <a:gd name="adj" fmla="val 4571"/>
            </a:avLst>
          </a:prstGeom>
          <a:solidFill>
            <a:srgbClr val="1E293B"/>
          </a:solidFill>
          <a:ln/>
        </p:spPr>
      </p:sp>
      <p:sp>
        <p:nvSpPr>
          <p:cNvPr id="19" name="Card 1 text"/>
          <p:cNvSpPr txBox="1"/>
          <p:nvPr/>
        </p:nvSpPr>
        <p:spPr>
          <a:xfrm>
            <a:off x="731520" y="4206240"/>
            <a:ext cx="224028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Automations</a:t>
            </a:r>
            <a:endParaRPr lang="en-US" sz="1600" dirty="0"/>
          </a:p>
          <a:p>
            <a:pPr indent="0" marL="0">
              <a:spcAft>
                <a:spcPts val="600"/>
              </a:spcAft>
              <a:buNone/>
            </a:pPr>
            <a:r>
              <a:rPr lang="en-US" sz="1300" dirty="0">
                <a:solidFill>
                  <a:schemeClr val="bg1"/>
                </a:solidFill>
              </a:rPr>
              <a:t>A daily 8 am task looks for new jobs and tells her only what is new.</a:t>
            </a:r>
            <a:endParaRPr lang="en-US" sz="1600" dirty="0"/>
          </a:p>
        </p:txBody>
      </p:sp>
      <p:sp>
        <p:nvSpPr>
          <p:cNvPr id="20" name="Card 2"/>
          <p:cNvSpPr/>
          <p:nvPr/>
        </p:nvSpPr>
        <p:spPr>
          <a:xfrm>
            <a:off x="3346704" y="4069080"/>
            <a:ext cx="2606040" cy="1600200"/>
          </a:xfrm>
          <a:prstGeom prst="roundRect">
            <a:avLst>
              <a:gd name="adj" fmla="val 4571"/>
            </a:avLst>
          </a:prstGeom>
          <a:solidFill>
            <a:srgbClr val="1E293B"/>
          </a:solidFill>
          <a:ln/>
        </p:spPr>
      </p:sp>
      <p:sp>
        <p:nvSpPr>
          <p:cNvPr id="21" name="Card 2 text"/>
          <p:cNvSpPr txBox="1"/>
          <p:nvPr/>
        </p:nvSpPr>
        <p:spPr>
          <a:xfrm>
            <a:off x="3529584" y="4206240"/>
            <a:ext cx="224028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Telegram channel</a:t>
            </a:r>
            <a:endParaRPr lang="en-US" sz="1600" dirty="0"/>
          </a:p>
          <a:p>
            <a:pPr indent="0" marL="0">
              <a:spcAft>
                <a:spcPts val="600"/>
              </a:spcAft>
              <a:buNone/>
            </a:pPr>
            <a:r>
              <a:rPr lang="en-US" sz="1300" dirty="0">
                <a:solidFill>
                  <a:schemeClr val="bg1"/>
                </a:solidFill>
              </a:rPr>
              <a:t>She sends the sentence from her phone and gets a short, screen-reader-friendly reply.</a:t>
            </a:r>
            <a:endParaRPr lang="en-US" sz="1600" dirty="0"/>
          </a:p>
        </p:txBody>
      </p:sp>
      <p:sp>
        <p:nvSpPr>
          <p:cNvPr id="22" name="Card 3"/>
          <p:cNvSpPr/>
          <p:nvPr/>
        </p:nvSpPr>
        <p:spPr>
          <a:xfrm>
            <a:off x="6144768" y="4069080"/>
            <a:ext cx="2606040" cy="1600200"/>
          </a:xfrm>
          <a:prstGeom prst="roundRect">
            <a:avLst>
              <a:gd name="adj" fmla="val 4571"/>
            </a:avLst>
          </a:prstGeom>
          <a:solidFill>
            <a:srgbClr val="1E293B"/>
          </a:solidFill>
          <a:ln/>
        </p:spPr>
      </p:sp>
      <p:sp>
        <p:nvSpPr>
          <p:cNvPr id="23" name="Card 3 text"/>
          <p:cNvSpPr txBox="1"/>
          <p:nvPr/>
        </p:nvSpPr>
        <p:spPr>
          <a:xfrm>
            <a:off x="6327648" y="4206240"/>
            <a:ext cx="224028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Connected email</a:t>
            </a:r>
            <a:endParaRPr lang="en-US" sz="1600" dirty="0"/>
          </a:p>
          <a:p>
            <a:pPr indent="0" marL="0">
              <a:spcAft>
                <a:spcPts val="600"/>
              </a:spcAft>
              <a:buNone/>
            </a:pPr>
            <a:r>
              <a:rPr lang="en-US" sz="1300" dirty="0">
                <a:solidFill>
                  <a:schemeClr val="bg1"/>
                </a:solidFill>
              </a:rPr>
              <a:t>After she selects a job, WorkBuddy sends the application from her own account.</a:t>
            </a:r>
            <a:endParaRPr lang="en-US" sz="1600" dirty="0"/>
          </a:p>
        </p:txBody>
      </p:sp>
      <p:sp>
        <p:nvSpPr>
          <p:cNvPr id="24" name="Card 4"/>
          <p:cNvSpPr/>
          <p:nvPr/>
        </p:nvSpPr>
        <p:spPr>
          <a:xfrm>
            <a:off x="8942832" y="4069080"/>
            <a:ext cx="2606040" cy="1600200"/>
          </a:xfrm>
          <a:prstGeom prst="roundRect">
            <a:avLst>
              <a:gd name="adj" fmla="val 4571"/>
            </a:avLst>
          </a:prstGeom>
          <a:solidFill>
            <a:srgbClr val="1E293B"/>
          </a:solidFill>
          <a:ln/>
        </p:spPr>
      </p:sp>
      <p:sp>
        <p:nvSpPr>
          <p:cNvPr id="25" name="Card 4 text"/>
          <p:cNvSpPr txBox="1"/>
          <p:nvPr/>
        </p:nvSpPr>
        <p:spPr>
          <a:xfrm>
            <a:off x="9125712" y="4206240"/>
            <a:ext cx="224028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Fallback</a:t>
            </a:r>
            <a:endParaRPr lang="en-US" sz="1600" dirty="0"/>
          </a:p>
          <a:p>
            <a:pPr indent="0" marL="0">
              <a:spcAft>
                <a:spcPts val="600"/>
              </a:spcAft>
              <a:buNone/>
            </a:pPr>
            <a:r>
              <a:rPr lang="en-US" sz="1300" dirty="0">
                <a:solidFill>
                  <a:schemeClr val="bg1"/>
                </a:solidFill>
              </a:rPr>
              <a:t>If a step tool fails, hirebuddy_run does the whole job in one call.</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Why It's an Agent</a:t>
            </a:r>
            <a:endParaRPr lang="en-US" sz="3000" dirty="0"/>
          </a:p>
        </p:txBody>
      </p:sp>
      <p:sp>
        <p:nvSpPr>
          <p:cNvPr id="3" name="Trace label"/>
          <p:cNvSpPr txBox="1"/>
          <p:nvPr/>
        </p:nvSpPr>
        <p:spPr>
          <a:xfrm>
            <a:off x="548640" y="1143000"/>
            <a:ext cx="5120640" cy="365760"/>
          </a:xfrm>
          <a:prstGeom prst="rect">
            <a:avLst/>
          </a:prstGeom>
          <a:noFill/>
          <a:ln/>
        </p:spPr>
        <p:txBody>
          <a:bodyPr wrap="square" lIns="0" tIns="0" rIns="0" bIns="0" rtlCol="0" anchor="ctr"/>
          <a:lstStyle/>
          <a:p>
            <a:pPr indent="0" marL="0">
              <a:buNone/>
            </a:pPr>
            <a:r>
              <a:rPr lang="en-US" sz="1400" dirty="0">
                <a:solidFill>
                  <a:schemeClr val="bg2"/>
                </a:solidFill>
              </a:rPr>
              <a:t>From a real run on Nadia's sentence</a:t>
            </a:r>
            <a:endParaRPr lang="en-US" sz="1400" dirty="0"/>
          </a:p>
        </p:txBody>
      </p:sp>
      <p:sp>
        <p:nvSpPr>
          <p:cNvPr id="4" name="Step 1 marker"/>
          <p:cNvSpPr/>
          <p:nvPr/>
        </p:nvSpPr>
        <p:spPr>
          <a:xfrm>
            <a:off x="548640" y="1691640"/>
            <a:ext cx="329184" cy="329184"/>
          </a:xfrm>
          <a:prstGeom prst="ellipse">
            <a:avLst/>
          </a:prstGeom>
          <a:solidFill>
            <a:srgbClr val="F59E0B"/>
          </a:solidFill>
          <a:ln/>
        </p:spPr>
      </p:sp>
      <p:sp>
        <p:nvSpPr>
          <p:cNvPr id="5" name="Step 1"/>
          <p:cNvSpPr txBox="1"/>
          <p:nvPr/>
        </p:nvSpPr>
        <p:spPr>
          <a:xfrm>
            <a:off x="1051560" y="1645920"/>
            <a:ext cx="4572000" cy="960120"/>
          </a:xfrm>
          <a:prstGeom prst="rect">
            <a:avLst/>
          </a:prstGeom>
          <a:noFill/>
          <a:ln/>
        </p:spPr>
        <p:txBody>
          <a:bodyPr wrap="square" lIns="0" tIns="0" rIns="0" bIns="0" rtlCol="0" anchor="t"/>
          <a:lstStyle/>
          <a:p>
            <a:pPr indent="0" marL="0">
              <a:buNone/>
            </a:pPr>
            <a:r>
              <a:rPr lang="en-US" sz="1500" b="1" dirty="0">
                <a:solidFill>
                  <a:schemeClr val="bg1"/>
                </a:solidFill>
              </a:rPr>
              <a:t>Round 1</a:t>
            </a:r>
            <a:endParaRPr lang="en-US" sz="1500" dirty="0"/>
          </a:p>
          <a:p>
            <a:pPr indent="0" marL="0">
              <a:buNone/>
            </a:pPr>
            <a:r>
              <a:rPr lang="en-US" sz="1300" dirty="0">
                <a:solidFill>
                  <a:schemeClr val="bg2"/>
                </a:solidFill>
              </a:rPr>
              <a:t>Only 2 of 3 jobs fit. Not good enough yet.</a:t>
            </a:r>
            <a:endParaRPr lang="en-US" sz="1500" dirty="0"/>
          </a:p>
        </p:txBody>
      </p:sp>
      <p:sp>
        <p:nvSpPr>
          <p:cNvPr id="6" name="Step 2 marker"/>
          <p:cNvSpPr/>
          <p:nvPr/>
        </p:nvSpPr>
        <p:spPr>
          <a:xfrm>
            <a:off x="548640" y="2770632"/>
            <a:ext cx="329184" cy="329184"/>
          </a:xfrm>
          <a:prstGeom prst="ellipse">
            <a:avLst/>
          </a:prstGeom>
          <a:solidFill>
            <a:srgbClr val="3B82F6"/>
          </a:solidFill>
          <a:ln/>
        </p:spPr>
      </p:sp>
      <p:sp>
        <p:nvSpPr>
          <p:cNvPr id="7" name="Step 2"/>
          <p:cNvSpPr txBox="1"/>
          <p:nvPr/>
        </p:nvSpPr>
        <p:spPr>
          <a:xfrm>
            <a:off x="1051560" y="2724912"/>
            <a:ext cx="4572000" cy="960120"/>
          </a:xfrm>
          <a:prstGeom prst="rect">
            <a:avLst/>
          </a:prstGeom>
          <a:noFill/>
          <a:ln/>
        </p:spPr>
        <p:txBody>
          <a:bodyPr wrap="square" lIns="0" tIns="0" rIns="0" bIns="0" rtlCol="0" anchor="t"/>
          <a:lstStyle/>
          <a:p>
            <a:pPr indent="0" marL="0">
              <a:buNone/>
            </a:pPr>
            <a:r>
              <a:rPr lang="en-US" sz="1500" b="1" dirty="0">
                <a:solidFill>
                  <a:schemeClr val="bg1"/>
                </a:solidFill>
              </a:rPr>
              <a:t>Tests 5 ways to widen</a:t>
            </a:r>
            <a:endParaRPr lang="en-US" sz="1500" dirty="0"/>
          </a:p>
          <a:p>
            <a:pPr indent="0" marL="0">
              <a:buNone/>
            </a:pPr>
            <a:r>
              <a:rPr lang="en-US" sz="1300" dirty="0">
                <a:solidFill>
                  <a:schemeClr val="bg2"/>
                </a:solidFill>
              </a:rPr>
              <a:t>Wider area, longer walk, ask about screen readers, lower pay. Each one simulated first.</a:t>
            </a:r>
            <a:endParaRPr lang="en-US" sz="1500" dirty="0"/>
          </a:p>
        </p:txBody>
      </p:sp>
      <p:sp>
        <p:nvSpPr>
          <p:cNvPr id="8" name="Step 3 marker"/>
          <p:cNvSpPr/>
          <p:nvPr/>
        </p:nvSpPr>
        <p:spPr>
          <a:xfrm>
            <a:off x="548640" y="3849624"/>
            <a:ext cx="329184" cy="329184"/>
          </a:xfrm>
          <a:prstGeom prst="ellipse">
            <a:avLst/>
          </a:prstGeom>
          <a:solidFill>
            <a:srgbClr val="10B981"/>
          </a:solidFill>
          <a:ln/>
        </p:spPr>
      </p:sp>
      <p:sp>
        <p:nvSpPr>
          <p:cNvPr id="9" name="Step 3"/>
          <p:cNvSpPr txBox="1"/>
          <p:nvPr/>
        </p:nvSpPr>
        <p:spPr>
          <a:xfrm>
            <a:off x="1051560" y="3803904"/>
            <a:ext cx="4572000" cy="960120"/>
          </a:xfrm>
          <a:prstGeom prst="rect">
            <a:avLst/>
          </a:prstGeom>
          <a:noFill/>
          <a:ln/>
        </p:spPr>
        <p:txBody>
          <a:bodyPr wrap="square" lIns="0" tIns="0" rIns="0" bIns="0" rtlCol="0" anchor="t"/>
          <a:lstStyle/>
          <a:p>
            <a:pPr indent="0" marL="0">
              <a:buNone/>
            </a:pPr>
            <a:r>
              <a:rPr lang="en-US" sz="1500" b="1" dirty="0">
                <a:solidFill>
                  <a:schemeClr val="bg1"/>
                </a:solidFill>
              </a:rPr>
              <a:t>Chooses to stop</a:t>
            </a:r>
            <a:endParaRPr lang="en-US" sz="1500" dirty="0"/>
          </a:p>
          <a:p>
            <a:pPr indent="0" marL="0">
              <a:buNone/>
            </a:pPr>
            <a:r>
              <a:rPr lang="en-US" sz="1300" dirty="0">
                <a:solidFill>
                  <a:schemeClr val="bg2"/>
                </a:solidFill>
              </a:rPr>
              <a:t>None adds a job that suits her, so it says what came closest instead of padding the list.</a:t>
            </a:r>
            <a:endParaRPr lang="en-US" sz="1500" dirty="0"/>
          </a:p>
        </p:txBody>
      </p:sp>
      <p:sp>
        <p:nvSpPr>
          <p:cNvPr id="10" name="Step 4 marker"/>
          <p:cNvSpPr/>
          <p:nvPr/>
        </p:nvSpPr>
        <p:spPr>
          <a:xfrm>
            <a:off x="548640" y="4928616"/>
            <a:ext cx="329184" cy="329184"/>
          </a:xfrm>
          <a:prstGeom prst="ellipse">
            <a:avLst/>
          </a:prstGeom>
          <a:solidFill>
            <a:srgbClr val="EF4444"/>
          </a:solidFill>
          <a:ln/>
        </p:spPr>
      </p:sp>
      <p:sp>
        <p:nvSpPr>
          <p:cNvPr id="11" name="Step 4"/>
          <p:cNvSpPr txBox="1"/>
          <p:nvPr/>
        </p:nvSpPr>
        <p:spPr>
          <a:xfrm>
            <a:off x="1051560" y="4882896"/>
            <a:ext cx="4572000" cy="960120"/>
          </a:xfrm>
          <a:prstGeom prst="rect">
            <a:avLst/>
          </a:prstGeom>
          <a:noFill/>
          <a:ln/>
        </p:spPr>
        <p:txBody>
          <a:bodyPr wrap="square" lIns="0" tIns="0" rIns="0" bIns="0" rtlCol="0" anchor="t"/>
          <a:lstStyle/>
          <a:p>
            <a:pPr indent="0" marL="0">
              <a:buNone/>
            </a:pPr>
            <a:r>
              <a:rPr lang="en-US" sz="1500" b="1" dirty="0">
                <a:solidFill>
                  <a:schemeClr val="bg1"/>
                </a:solidFill>
              </a:rPr>
              <a:t>Won't do alone</a:t>
            </a:r>
            <a:endParaRPr lang="en-US" sz="1500" dirty="0"/>
          </a:p>
          <a:p>
            <a:pPr indent="0" marL="0">
              <a:buNone/>
            </a:pPr>
            <a:r>
              <a:rPr lang="en-US" sz="1300" dirty="0">
                <a:solidFill>
                  <a:schemeClr val="bg2"/>
                </a:solidFill>
              </a:rPr>
              <a:t>Lowering her RM12 floor needs her OK.</a:t>
            </a:r>
            <a:endParaRPr lang="en-US" sz="1500" dirty="0"/>
          </a:p>
        </p:txBody>
      </p:sp>
      <p:sp>
        <p:nvSpPr>
          <p:cNvPr id="12" name="Loop Goal"/>
          <p:cNvSpPr txBox="1"/>
          <p:nvPr/>
        </p:nvSpPr>
        <p:spPr>
          <a:xfrm>
            <a:off x="6172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Goal</a:t>
            </a:r>
            <a:endParaRPr lang="en-US" sz="1400" dirty="0"/>
          </a:p>
        </p:txBody>
      </p:sp>
      <p:sp>
        <p:nvSpPr>
          <p:cNvPr id="13" name="Loop arrow 1"/>
          <p:cNvSpPr/>
          <p:nvPr/>
        </p:nvSpPr>
        <p:spPr>
          <a:xfrm>
            <a:off x="7132320" y="2331720"/>
            <a:ext cx="182880" cy="0"/>
          </a:xfrm>
          <a:prstGeom prst="line">
            <a:avLst/>
          </a:prstGeom>
          <a:noFill/>
          <a:ln w="25400">
            <a:solidFill>
              <a:schemeClr val="accent5"/>
            </a:solidFill>
            <a:prstDash val="solid"/>
            <a:tailEnd type="triangle"/>
          </a:ln>
        </p:spPr>
      </p:sp>
      <p:sp>
        <p:nvSpPr>
          <p:cNvPr id="14" name="Loop Plan"/>
          <p:cNvSpPr txBox="1"/>
          <p:nvPr/>
        </p:nvSpPr>
        <p:spPr>
          <a:xfrm>
            <a:off x="7315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Plan</a:t>
            </a:r>
            <a:endParaRPr lang="en-US" sz="1400" dirty="0"/>
          </a:p>
        </p:txBody>
      </p:sp>
      <p:sp>
        <p:nvSpPr>
          <p:cNvPr id="15" name="Loop arrow 2"/>
          <p:cNvSpPr/>
          <p:nvPr/>
        </p:nvSpPr>
        <p:spPr>
          <a:xfrm>
            <a:off x="8275320" y="2331720"/>
            <a:ext cx="182880" cy="0"/>
          </a:xfrm>
          <a:prstGeom prst="line">
            <a:avLst/>
          </a:prstGeom>
          <a:noFill/>
          <a:ln w="25400">
            <a:solidFill>
              <a:schemeClr val="accent5"/>
            </a:solidFill>
            <a:prstDash val="solid"/>
            <a:tailEnd type="triangle"/>
          </a:ln>
        </p:spPr>
      </p:sp>
      <p:sp>
        <p:nvSpPr>
          <p:cNvPr id="16" name="Loop Tools"/>
          <p:cNvSpPr txBox="1"/>
          <p:nvPr/>
        </p:nvSpPr>
        <p:spPr>
          <a:xfrm>
            <a:off x="8458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Tools</a:t>
            </a:r>
            <a:endParaRPr lang="en-US" sz="1400" dirty="0"/>
          </a:p>
        </p:txBody>
      </p:sp>
      <p:sp>
        <p:nvSpPr>
          <p:cNvPr id="17" name="Loop arrow 3"/>
          <p:cNvSpPr/>
          <p:nvPr/>
        </p:nvSpPr>
        <p:spPr>
          <a:xfrm>
            <a:off x="9418320" y="2331720"/>
            <a:ext cx="182880" cy="0"/>
          </a:xfrm>
          <a:prstGeom prst="line">
            <a:avLst/>
          </a:prstGeom>
          <a:noFill/>
          <a:ln w="25400">
            <a:solidFill>
              <a:schemeClr val="accent5"/>
            </a:solidFill>
            <a:prstDash val="solid"/>
            <a:tailEnd type="triangle"/>
          </a:ln>
        </p:spPr>
      </p:sp>
      <p:sp>
        <p:nvSpPr>
          <p:cNvPr id="18" name="Loop Verify"/>
          <p:cNvSpPr txBox="1"/>
          <p:nvPr/>
        </p:nvSpPr>
        <p:spPr>
          <a:xfrm>
            <a:off x="9601200" y="2011680"/>
            <a:ext cx="960120" cy="640080"/>
          </a:xfrm>
          <a:prstGeom prst="roundRect">
            <a:avLst>
              <a:gd name="adj" fmla="val 11429"/>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Verify</a:t>
            </a:r>
            <a:endParaRPr lang="en-US" sz="1400" dirty="0"/>
          </a:p>
        </p:txBody>
      </p:sp>
      <p:sp>
        <p:nvSpPr>
          <p:cNvPr id="19" name="Loop arrow 4"/>
          <p:cNvSpPr/>
          <p:nvPr/>
        </p:nvSpPr>
        <p:spPr>
          <a:xfrm>
            <a:off x="10561320" y="2331720"/>
            <a:ext cx="182880" cy="0"/>
          </a:xfrm>
          <a:prstGeom prst="line">
            <a:avLst/>
          </a:prstGeom>
          <a:noFill/>
          <a:ln w="25400">
            <a:solidFill>
              <a:schemeClr val="accent5"/>
            </a:solidFill>
            <a:prstDash val="solid"/>
            <a:tailEnd type="triangle"/>
          </a:ln>
        </p:spPr>
      </p:sp>
      <p:sp>
        <p:nvSpPr>
          <p:cNvPr id="20" name="Loop Deliver"/>
          <p:cNvSpPr txBox="1"/>
          <p:nvPr/>
        </p:nvSpPr>
        <p:spPr>
          <a:xfrm>
            <a:off x="10744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Deliver</a:t>
            </a:r>
            <a:endParaRPr lang="en-US" sz="1400" dirty="0"/>
          </a:p>
        </p:txBody>
      </p:sp>
      <p:sp>
        <p:nvSpPr>
          <p:cNvPr id="21" name="Loop Fix"/>
          <p:cNvSpPr txBox="1"/>
          <p:nvPr/>
        </p:nvSpPr>
        <p:spPr>
          <a:xfrm>
            <a:off x="8595360" y="3429000"/>
            <a:ext cx="960120" cy="640080"/>
          </a:xfrm>
          <a:prstGeom prst="roundRect">
            <a:avLst>
              <a:gd name="adj" fmla="val 11429"/>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Fix</a:t>
            </a:r>
            <a:endParaRPr lang="en-US" sz="1400" dirty="0"/>
          </a:p>
        </p:txBody>
      </p:sp>
      <p:sp>
        <p:nvSpPr>
          <p:cNvPr id="22" name="Problems arrow"/>
          <p:cNvSpPr/>
          <p:nvPr/>
        </p:nvSpPr>
        <p:spPr>
          <a:xfrm flipH="1">
            <a:off x="9555480" y="2651760"/>
            <a:ext cx="320040" cy="777240"/>
          </a:xfrm>
          <a:prstGeom prst="line">
            <a:avLst/>
          </a:prstGeom>
          <a:noFill/>
          <a:ln w="25400">
            <a:solidFill>
              <a:srgbClr val="10B981"/>
            </a:solidFill>
            <a:prstDash val="dash"/>
            <a:tailEnd type="triangle"/>
          </a:ln>
        </p:spPr>
      </p:sp>
      <p:sp>
        <p:nvSpPr>
          <p:cNvPr id="23" name="Retry arrow"/>
          <p:cNvSpPr/>
          <p:nvPr/>
        </p:nvSpPr>
        <p:spPr>
          <a:xfrm flipH="1" flipV="1">
            <a:off x="9006840" y="2651760"/>
            <a:ext cx="320040" cy="777240"/>
          </a:xfrm>
          <a:prstGeom prst="line">
            <a:avLst/>
          </a:prstGeom>
          <a:noFill/>
          <a:ln w="25400">
            <a:solidFill>
              <a:srgbClr val="10B981"/>
            </a:solidFill>
            <a:prstDash val="dash"/>
            <a:tailEnd type="triangle"/>
          </a:ln>
        </p:spPr>
      </p:sp>
      <p:sp>
        <p:nvSpPr>
          <p:cNvPr id="24" name="Problems label"/>
          <p:cNvSpPr txBox="1"/>
          <p:nvPr/>
        </p:nvSpPr>
        <p:spPr>
          <a:xfrm>
            <a:off x="9921240" y="2971800"/>
            <a:ext cx="1097280" cy="274320"/>
          </a:xfrm>
          <a:prstGeom prst="rect">
            <a:avLst/>
          </a:prstGeom>
          <a:noFill/>
          <a:ln/>
        </p:spPr>
        <p:txBody>
          <a:bodyPr wrap="square" lIns="0" tIns="0" rIns="0" bIns="0" rtlCol="0" anchor="ctr"/>
          <a:lstStyle/>
          <a:p>
            <a:pPr indent="0" marL="0">
              <a:buNone/>
            </a:pPr>
            <a:r>
              <a:rPr lang="en-US" sz="1100" dirty="0">
                <a:solidFill>
                  <a:schemeClr val="accent2"/>
                </a:solidFill>
              </a:rPr>
              <a:t>problems</a:t>
            </a:r>
            <a:endParaRPr lang="en-US" sz="1100" dirty="0"/>
          </a:p>
        </p:txBody>
      </p:sp>
      <p:sp>
        <p:nvSpPr>
          <p:cNvPr id="25" name="Retry label"/>
          <p:cNvSpPr txBox="1"/>
          <p:nvPr/>
        </p:nvSpPr>
        <p:spPr>
          <a:xfrm>
            <a:off x="7772400" y="2971800"/>
            <a:ext cx="731520" cy="274320"/>
          </a:xfrm>
          <a:prstGeom prst="rect">
            <a:avLst/>
          </a:prstGeom>
          <a:noFill/>
          <a:ln/>
        </p:spPr>
        <p:txBody>
          <a:bodyPr wrap="square" lIns="0" tIns="0" rIns="0" bIns="0" rtlCol="0" anchor="ctr"/>
          <a:lstStyle/>
          <a:p>
            <a:pPr algn="r" indent="0" marL="0">
              <a:buNone/>
            </a:pPr>
            <a:r>
              <a:rPr lang="en-US" sz="1100" dirty="0">
                <a:solidFill>
                  <a:schemeClr val="accent2"/>
                </a:solidFill>
              </a:rPr>
              <a:t>retry</a:t>
            </a:r>
            <a:endParaRPr lang="en-US" sz="1100" dirty="0"/>
          </a:p>
        </p:txBody>
      </p:sp>
      <p:sp>
        <p:nvSpPr>
          <p:cNvPr id="26" name="Loop notes"/>
          <p:cNvSpPr txBox="1"/>
          <p:nvPr/>
        </p:nvSpPr>
        <p:spPr>
          <a:xfrm>
            <a:off x="6172200" y="4434840"/>
            <a:ext cx="5257800" cy="1280160"/>
          </a:xfrm>
          <a:prstGeom prst="rect">
            <a:avLst/>
          </a:prstGeom>
          <a:noFill/>
          <a:ln/>
        </p:spPr>
        <p:txBody>
          <a:bodyPr wrap="square" lIns="0" tIns="0" rIns="0" bIns="0" rtlCol="0" anchor="t"/>
          <a:lstStyle/>
          <a:p>
            <a:pPr indent="0" marL="0">
              <a:spcAft>
                <a:spcPts val="800"/>
              </a:spcAft>
              <a:buNone/>
            </a:pPr>
            <a:r>
              <a:rPr lang="en-US" sz="1400" dirty="0">
                <a:solidFill>
                  <a:schemeClr val="bg2"/>
                </a:solidFill>
              </a:rPr>
              <a:t>Every tool returns a result or a list of specific problems.</a:t>
            </a:r>
            <a:endParaRPr lang="en-US" sz="1400" dirty="0"/>
          </a:p>
          <a:p>
            <a:pPr indent="0" marL="0">
              <a:spcAft>
                <a:spcPts val="800"/>
              </a:spcAft>
              <a:buNone/>
            </a:pPr>
            <a:r>
              <a:rPr lang="en-US" sz="1400" dirty="0">
                <a:solidFill>
                  <a:schemeClr val="bg2"/>
                </a:solidFill>
              </a:rPr>
              <a:t>LLM or rule-based planner, same checks.</a:t>
            </a:r>
            <a:endParaRPr lang="en-US" sz="1400" dirty="0"/>
          </a:p>
          <a:p>
            <a:pPr indent="0" marL="0">
              <a:spcAft>
                <a:spcPts val="800"/>
              </a:spcAft>
              <a:buNone/>
            </a:pPr>
            <a:r>
              <a:rPr lang="en-US" sz="1400" b="1" dirty="0">
                <a:solidFill>
                  <a:schemeClr val="accent1"/>
                </a:solidFill>
              </a:rPr>
              <a:t>The run cannot finish until verification passes.</a:t>
            </a:r>
            <a:endParaRPr lang="en-US" sz="14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Proof</a:t>
            </a:r>
            <a:endParaRPr lang="en-US" sz="3000" dirty="0"/>
          </a:p>
        </p:txBody>
      </p:sp>
      <p:pic>
        <p:nvPicPr>
          <p:cNvPr id="3" name="Result screenshot" descr="HireBuddy result page for Nadia: 2 suitable jobs with match scores, checked and verified, 2 of 2 checks passed">    </p:cNvPr>
          <p:cNvPicPr>
            <a:picLocks noChangeAspect="1"/>
          </p:cNvPicPr>
          <p:nvPr/>
        </p:nvPicPr>
        <p:blipFill>
          <a:blip r:embed="rId1"/>
          <a:stretch>
            <a:fillRect/>
          </a:stretch>
        </p:blipFill>
        <p:spPr>
          <a:xfrm>
            <a:off x="548640" y="1188720"/>
            <a:ext cx="3831336" cy="4800600"/>
          </a:xfrm>
          <a:prstGeom prst="rect">
            <a:avLst/>
          </a:prstGeom>
        </p:spPr>
      </p:pic>
      <p:sp>
        <p:nvSpPr>
          <p:cNvPr id="4" name="Screenshot caption"/>
          <p:cNvSpPr txBox="1"/>
          <p:nvPr/>
        </p:nvSpPr>
        <p:spPr>
          <a:xfrm>
            <a:off x="548640" y="6035040"/>
            <a:ext cx="3831336" cy="274320"/>
          </a:xfrm>
          <a:prstGeom prst="rect">
            <a:avLst/>
          </a:prstGeom>
          <a:noFill/>
          <a:ln/>
        </p:spPr>
        <p:txBody>
          <a:bodyPr wrap="square" lIns="0" tIns="0" rIns="0" bIns="0" rtlCol="0" anchor="ctr"/>
          <a:lstStyle/>
          <a:p>
            <a:pPr algn="ctr" indent="0" marL="0">
              <a:buNone/>
            </a:pPr>
            <a:r>
              <a:rPr lang="en-US" sz="1100" dirty="0">
                <a:solidFill>
                  <a:schemeClr val="bg2"/>
                </a:solidFill>
              </a:rPr>
              <a:t>Result page for the slide 2 sentence</a:t>
            </a:r>
            <a:endParaRPr lang="en-US" sz="1100" dirty="0"/>
          </a:p>
        </p:txBody>
      </p:sp>
      <p:sp>
        <p:nvSpPr>
          <p:cNvPr id="5" name="Stat 1 card"/>
          <p:cNvSpPr/>
          <p:nvPr/>
        </p:nvSpPr>
        <p:spPr>
          <a:xfrm>
            <a:off x="4663440" y="1188720"/>
            <a:ext cx="6976872" cy="1051560"/>
          </a:xfrm>
          <a:prstGeom prst="roundRect">
            <a:avLst>
              <a:gd name="adj" fmla="val 6957"/>
            </a:avLst>
          </a:prstGeom>
          <a:solidFill>
            <a:srgbClr val="1E293B"/>
          </a:solidFill>
          <a:ln/>
        </p:spPr>
      </p:sp>
      <p:sp>
        <p:nvSpPr>
          <p:cNvPr id="6" name="Stat 1 value"/>
          <p:cNvSpPr txBox="1"/>
          <p:nvPr/>
        </p:nvSpPr>
        <p:spPr>
          <a:xfrm>
            <a:off x="4892040" y="1188720"/>
            <a:ext cx="2514600" cy="1051560"/>
          </a:xfrm>
          <a:prstGeom prst="rect">
            <a:avLst/>
          </a:prstGeom>
          <a:noFill/>
          <a:ln/>
        </p:spPr>
        <p:txBody>
          <a:bodyPr wrap="square" lIns="0" tIns="0" rIns="0" bIns="0" rtlCol="0" anchor="ctr"/>
          <a:lstStyle/>
          <a:p>
            <a:pPr indent="0" marL="0">
              <a:buNone/>
            </a:pPr>
            <a:r>
              <a:rPr lang="en-US" sz="2800" b="1" dirty="0">
                <a:solidFill>
                  <a:schemeClr val="accent2"/>
                </a:solidFill>
              </a:rPr>
              <a:t>2 of 2</a:t>
            </a:r>
            <a:endParaRPr lang="en-US" sz="2800" dirty="0"/>
          </a:p>
        </p:txBody>
      </p:sp>
      <p:sp>
        <p:nvSpPr>
          <p:cNvPr id="7" name="Stat 1 text"/>
          <p:cNvSpPr txBox="1"/>
          <p:nvPr/>
        </p:nvSpPr>
        <p:spPr>
          <a:xfrm>
            <a:off x="7498080" y="1298448"/>
            <a:ext cx="3977640" cy="868680"/>
          </a:xfrm>
          <a:prstGeom prst="rect">
            <a:avLst/>
          </a:prstGeom>
          <a:noFill/>
          <a:ln/>
        </p:spPr>
        <p:txBody>
          <a:bodyPr wrap="square" lIns="0" tIns="0" rIns="0" bIns="0" rtlCol="0" anchor="ctr"/>
          <a:lstStyle/>
          <a:p>
            <a:pPr indent="0" marL="0">
              <a:buNone/>
            </a:pPr>
            <a:r>
              <a:rPr lang="en-US" sz="1500" b="1" dirty="0">
                <a:solidFill>
                  <a:schemeClr val="bg1"/>
                </a:solidFill>
              </a:rPr>
              <a:t>checks passed on this run</a:t>
            </a:r>
            <a:endParaRPr lang="en-US" sz="1500" dirty="0"/>
          </a:p>
          <a:p>
            <a:pPr indent="0" marL="0">
              <a:buNone/>
            </a:pPr>
            <a:r>
              <a:rPr lang="en-US" sz="1200" dirty="0">
                <a:solidFill>
                  <a:schemeClr val="bg2"/>
                </a:solidFill>
              </a:rPr>
              <a:t>Up to 7 when WorkBuddy brings job-site listings. The run cannot finish until they pass.</a:t>
            </a:r>
            <a:endParaRPr lang="en-US" sz="1500" dirty="0"/>
          </a:p>
        </p:txBody>
      </p:sp>
      <p:sp>
        <p:nvSpPr>
          <p:cNvPr id="8" name="Stat 2 card"/>
          <p:cNvSpPr/>
          <p:nvPr/>
        </p:nvSpPr>
        <p:spPr>
          <a:xfrm>
            <a:off x="4663440" y="2377440"/>
            <a:ext cx="6976872" cy="1051560"/>
          </a:xfrm>
          <a:prstGeom prst="roundRect">
            <a:avLst>
              <a:gd name="adj" fmla="val 6957"/>
            </a:avLst>
          </a:prstGeom>
          <a:solidFill>
            <a:srgbClr val="1E293B"/>
          </a:solidFill>
          <a:ln/>
        </p:spPr>
      </p:sp>
      <p:sp>
        <p:nvSpPr>
          <p:cNvPr id="9" name="Stat 2 value"/>
          <p:cNvSpPr txBox="1"/>
          <p:nvPr/>
        </p:nvSpPr>
        <p:spPr>
          <a:xfrm>
            <a:off x="4892040" y="2377440"/>
            <a:ext cx="2514600" cy="1051560"/>
          </a:xfrm>
          <a:prstGeom prst="rect">
            <a:avLst/>
          </a:prstGeom>
          <a:noFill/>
          <a:ln/>
        </p:spPr>
        <p:txBody>
          <a:bodyPr wrap="square" lIns="0" tIns="0" rIns="0" bIns="0" rtlCol="0" anchor="ctr"/>
          <a:lstStyle/>
          <a:p>
            <a:pPr indent="0" marL="0">
              <a:buNone/>
            </a:pPr>
            <a:r>
              <a:rPr lang="en-US" sz="2800" b="1" dirty="0">
                <a:solidFill>
                  <a:schemeClr val="accent1"/>
                </a:solidFill>
              </a:rPr>
              <a:t>RM8.72/hr</a:t>
            </a:r>
            <a:endParaRPr lang="en-US" sz="2800" dirty="0"/>
          </a:p>
        </p:txBody>
      </p:sp>
      <p:sp>
        <p:nvSpPr>
          <p:cNvPr id="10" name="Stat 2 text"/>
          <p:cNvSpPr txBox="1"/>
          <p:nvPr/>
        </p:nvSpPr>
        <p:spPr>
          <a:xfrm>
            <a:off x="7498080" y="2487168"/>
            <a:ext cx="3977640" cy="868680"/>
          </a:xfrm>
          <a:prstGeom prst="rect">
            <a:avLst/>
          </a:prstGeom>
          <a:noFill/>
          <a:ln/>
        </p:spPr>
        <p:txBody>
          <a:bodyPr wrap="square" lIns="0" tIns="0" rIns="0" bIns="0" rtlCol="0" anchor="ctr"/>
          <a:lstStyle/>
          <a:p>
            <a:pPr indent="0" marL="0">
              <a:buNone/>
            </a:pPr>
            <a:r>
              <a:rPr lang="en-US" sz="1500" b="1" dirty="0">
                <a:solidFill>
                  <a:schemeClr val="bg1"/>
                </a:solidFill>
              </a:rPr>
              <a:t>refused from both sides</a:t>
            </a:r>
            <a:endParaRPr lang="en-US" sz="1500" dirty="0"/>
          </a:p>
          <a:p>
            <a:pPr indent="0" marL="0">
              <a:buNone/>
            </a:pPr>
            <a:r>
              <a:rPr lang="en-US" sz="1200" dirty="0">
                <a:solidFill>
                  <a:schemeClr val="bg2"/>
                </a:solidFill>
              </a:rPr>
              <a:t>Underpaid jobs never reach seekers. Underpaid employer posts are not published.</a:t>
            </a:r>
            <a:endParaRPr lang="en-US" sz="1500" dirty="0"/>
          </a:p>
        </p:txBody>
      </p:sp>
      <p:sp>
        <p:nvSpPr>
          <p:cNvPr id="11" name="Stat 3 card"/>
          <p:cNvSpPr/>
          <p:nvPr/>
        </p:nvSpPr>
        <p:spPr>
          <a:xfrm>
            <a:off x="4663440" y="3566160"/>
            <a:ext cx="6976872" cy="1051560"/>
          </a:xfrm>
          <a:prstGeom prst="roundRect">
            <a:avLst>
              <a:gd name="adj" fmla="val 6957"/>
            </a:avLst>
          </a:prstGeom>
          <a:solidFill>
            <a:srgbClr val="1E293B"/>
          </a:solidFill>
          <a:ln/>
        </p:spPr>
      </p:sp>
      <p:sp>
        <p:nvSpPr>
          <p:cNvPr id="12" name="Stat 3 value"/>
          <p:cNvSpPr txBox="1"/>
          <p:nvPr/>
        </p:nvSpPr>
        <p:spPr>
          <a:xfrm>
            <a:off x="4892040" y="3566160"/>
            <a:ext cx="2514600" cy="105156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2800" dirty="0"/>
          </a:p>
        </p:txBody>
      </p:sp>
      <p:sp>
        <p:nvSpPr>
          <p:cNvPr id="13" name="Stat 3 text"/>
          <p:cNvSpPr txBox="1"/>
          <p:nvPr/>
        </p:nvSpPr>
        <p:spPr>
          <a:xfrm>
            <a:off x="7498080" y="3675888"/>
            <a:ext cx="3977640" cy="868680"/>
          </a:xfrm>
          <a:prstGeom prst="rect">
            <a:avLst/>
          </a:prstGeom>
          <a:noFill/>
          <a:ln/>
        </p:spPr>
        <p:txBody>
          <a:bodyPr wrap="square" lIns="0" tIns="0" rIns="0" bIns="0" rtlCol="0" anchor="ctr"/>
          <a:lstStyle/>
          <a:p>
            <a:pPr indent="0" marL="0">
              <a:buNone/>
            </a:pPr>
            <a:r>
              <a:rPr lang="en-US" sz="1500" b="1" dirty="0">
                <a:solidFill>
                  <a:schemeClr val="bg1"/>
                </a:solidFill>
              </a:rPr>
              <a:t>applications sent without her OK</a:t>
            </a:r>
            <a:endParaRPr lang="en-US" sz="1500" dirty="0"/>
          </a:p>
          <a:p>
            <a:pPr indent="0" marL="0">
              <a:buNone/>
            </a:pPr>
            <a:r>
              <a:rPr lang="en-US" sz="1200" dirty="0">
                <a:solidFill>
                  <a:schemeClr val="bg2"/>
                </a:solidFill>
              </a:rPr>
              <a:t>She selects a job; only then is it sent.</a:t>
            </a:r>
            <a:endParaRPr lang="en-US" sz="1500" dirty="0"/>
          </a:p>
        </p:txBody>
      </p:sp>
      <p:sp>
        <p:nvSpPr>
          <p:cNvPr id="14" name="Accessibility"/>
          <p:cNvSpPr txBox="1"/>
          <p:nvPr/>
        </p:nvSpPr>
        <p:spPr>
          <a:xfrm>
            <a:off x="4663440" y="4800600"/>
            <a:ext cx="6976872" cy="457200"/>
          </a:xfrm>
          <a:prstGeom prst="rect">
            <a:avLst/>
          </a:prstGeom>
          <a:noFill/>
          <a:ln/>
        </p:spPr>
        <p:txBody>
          <a:bodyPr wrap="square" lIns="0" tIns="0" rIns="0" bIns="0" rtlCol="0" anchor="t"/>
          <a:lstStyle/>
          <a:p>
            <a:pPr indent="0" marL="0">
              <a:buNone/>
            </a:pPr>
            <a:r>
              <a:rPr lang="en-US" sz="1300" dirty="0">
                <a:solidFill>
                  <a:schemeClr val="bg2"/>
                </a:solidFill>
              </a:rPr>
              <a:t>Web app: WCAG 2.2 AA, 7:1 contrast, full keyboard and screen-reader support.</a:t>
            </a:r>
            <a:endParaRPr lang="en-US" sz="1300" dirty="0"/>
          </a:p>
        </p:txBody>
      </p:sp>
      <p:sp>
        <p:nvSpPr>
          <p:cNvPr id="15" name="Close"/>
          <p:cNvSpPr txBox="1"/>
          <p:nvPr/>
        </p:nvSpPr>
        <p:spPr>
          <a:xfrm>
            <a:off x="4663440" y="5303520"/>
            <a:ext cx="6976872" cy="914400"/>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One sentence in. Two suitable jobs, a reason for every rejection, nothing sent without her say-so.</a:t>
            </a:r>
            <a:endParaRPr lang="en-US" sz="1600" dirty="0"/>
          </a:p>
          <a:p>
            <a:pPr indent="0" marL="0">
              <a:spcAft>
                <a:spcPts val="600"/>
              </a:spcAft>
              <a:buNone/>
            </a:pPr>
            <a:r>
              <a:rPr lang="en-US" sz="1600" b="1" dirty="0">
                <a:solidFill>
                  <a:schemeClr val="accent1"/>
                </a:solidFill>
              </a:rPr>
              <a:t>HireBuddy: work that gets done.</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Try It: One Sentence</a:t>
            </a:r>
            <a:endParaRPr lang="en-US" sz="3000" dirty="0"/>
          </a:p>
        </p:txBody>
      </p:sp>
      <p:sp>
        <p:nvSpPr>
          <p:cNvPr id="3" name="QR card 1"/>
          <p:cNvSpPr/>
          <p:nvPr/>
        </p:nvSpPr>
        <p:spPr>
          <a:xfrm>
            <a:off x="1737360" y="1280160"/>
            <a:ext cx="3931920" cy="4023360"/>
          </a:xfrm>
          <a:prstGeom prst="roundRect">
            <a:avLst>
              <a:gd name="adj" fmla="val 2326"/>
            </a:avLst>
          </a:prstGeom>
          <a:solidFill>
            <a:srgbClr val="1E293B"/>
          </a:solidFill>
          <a:ln/>
        </p:spPr>
      </p:sp>
      <p:pic>
        <p:nvPicPr>
          <p:cNvPr id="4" name="QR 1" descr="QR code for hirebuddy-k543.onrender.com">    </p:cNvPr>
          <p:cNvPicPr>
            <a:picLocks noChangeAspect="1"/>
          </p:cNvPicPr>
          <p:nvPr/>
        </p:nvPicPr>
        <p:blipFill>
          <a:blip r:embed="rId1"/>
          <a:stretch>
            <a:fillRect/>
          </a:stretch>
        </p:blipFill>
        <p:spPr>
          <a:xfrm>
            <a:off x="2468880" y="1554480"/>
            <a:ext cx="2468880" cy="2468880"/>
          </a:xfrm>
          <a:prstGeom prst="rect">
            <a:avLst/>
          </a:prstGeom>
        </p:spPr>
      </p:pic>
      <p:sp>
        <p:nvSpPr>
          <p:cNvPr id="5" name="QR 1 heading"/>
          <p:cNvSpPr txBox="1"/>
          <p:nvPr/>
        </p:nvSpPr>
        <p:spPr>
          <a:xfrm>
            <a:off x="1920240" y="4206240"/>
            <a:ext cx="3566160" cy="411480"/>
          </a:xfrm>
          <a:prstGeom prst="rect">
            <a:avLst/>
          </a:prstGeom>
          <a:noFill/>
          <a:ln/>
        </p:spPr>
        <p:txBody>
          <a:bodyPr wrap="square" lIns="0" tIns="0" rIns="0" bIns="0" rtlCol="0" anchor="ctr"/>
          <a:lstStyle/>
          <a:p>
            <a:pPr algn="ctr" indent="0" marL="0">
              <a:buNone/>
            </a:pPr>
            <a:r>
              <a:rPr lang="en-US" sz="1800" b="1" dirty="0">
                <a:solidFill>
                  <a:schemeClr val="bg1"/>
                </a:solidFill>
              </a:rPr>
              <a:t>Live app</a:t>
            </a:r>
            <a:endParaRPr lang="en-US" sz="1800" dirty="0"/>
          </a:p>
        </p:txBody>
      </p:sp>
      <p:sp>
        <p:nvSpPr>
          <p:cNvPr id="6" name="QR 1 link"/>
          <p:cNvSpPr txBox="1"/>
          <p:nvPr/>
        </p:nvSpPr>
        <p:spPr>
          <a:xfrm>
            <a:off x="1920240" y="4663440"/>
            <a:ext cx="356616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hirebuddy-k543.onrender.com</a:t>
            </a:r>
            <a:endParaRPr lang="en-US" sz="1400" dirty="0"/>
          </a:p>
        </p:txBody>
      </p:sp>
      <p:sp>
        <p:nvSpPr>
          <p:cNvPr id="7" name="QR card 2"/>
          <p:cNvSpPr/>
          <p:nvPr/>
        </p:nvSpPr>
        <p:spPr>
          <a:xfrm>
            <a:off x="6492240" y="1280160"/>
            <a:ext cx="3931920" cy="4023360"/>
          </a:xfrm>
          <a:prstGeom prst="roundRect">
            <a:avLst>
              <a:gd name="adj" fmla="val 2326"/>
            </a:avLst>
          </a:prstGeom>
          <a:solidFill>
            <a:srgbClr val="1E293B"/>
          </a:solidFill>
          <a:ln/>
        </p:spPr>
      </p:sp>
      <p:pic>
        <p:nvPicPr>
          <p:cNvPr id="8" name="QR 2" descr="QR code for github.com/Josan88/job-buddy">    </p:cNvPr>
          <p:cNvPicPr>
            <a:picLocks noChangeAspect="1"/>
          </p:cNvPicPr>
          <p:nvPr/>
        </p:nvPicPr>
        <p:blipFill>
          <a:blip r:embed="rId3"/>
          <a:stretch>
            <a:fillRect/>
          </a:stretch>
        </p:blipFill>
        <p:spPr>
          <a:xfrm>
            <a:off x="7223760" y="1554480"/>
            <a:ext cx="2468880" cy="2468880"/>
          </a:xfrm>
          <a:prstGeom prst="rect">
            <a:avLst/>
          </a:prstGeom>
        </p:spPr>
      </p:pic>
      <p:sp>
        <p:nvSpPr>
          <p:cNvPr id="9" name="QR 2 heading"/>
          <p:cNvSpPr txBox="1"/>
          <p:nvPr/>
        </p:nvSpPr>
        <p:spPr>
          <a:xfrm>
            <a:off x="6675120" y="4206240"/>
            <a:ext cx="3566160" cy="411480"/>
          </a:xfrm>
          <a:prstGeom prst="rect">
            <a:avLst/>
          </a:prstGeom>
          <a:noFill/>
          <a:ln/>
        </p:spPr>
        <p:txBody>
          <a:bodyPr wrap="square" lIns="0" tIns="0" rIns="0" bIns="0" rtlCol="0" anchor="ctr"/>
          <a:lstStyle/>
          <a:p>
            <a:pPr algn="ctr" indent="0" marL="0">
              <a:buNone/>
            </a:pPr>
            <a:r>
              <a:rPr lang="en-US" sz="1800" b="1" dirty="0">
                <a:solidFill>
                  <a:schemeClr val="bg1"/>
                </a:solidFill>
              </a:rPr>
              <a:t>Code + WorkBuddy setup</a:t>
            </a:r>
            <a:endParaRPr lang="en-US" sz="1800" dirty="0"/>
          </a:p>
        </p:txBody>
      </p:sp>
      <p:sp>
        <p:nvSpPr>
          <p:cNvPr id="10" name="QR 2 link"/>
          <p:cNvSpPr txBox="1"/>
          <p:nvPr/>
        </p:nvSpPr>
        <p:spPr>
          <a:xfrm>
            <a:off x="6675120" y="4663440"/>
            <a:ext cx="356616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github.com/Josan88/job-buddy</a:t>
            </a:r>
            <a:endParaRPr lang="en-US" sz="1400" dirty="0"/>
          </a:p>
        </p:txBody>
      </p:sp>
      <p:sp>
        <p:nvSpPr>
          <p:cNvPr id="11" name="Hint"/>
          <p:cNvSpPr txBox="1"/>
          <p:nvPr/>
        </p:nvSpPr>
        <p:spPr>
          <a:xfrm>
            <a:off x="548640" y="5532120"/>
            <a:ext cx="11064240" cy="365760"/>
          </a:xfrm>
          <a:prstGeom prst="rect">
            <a:avLst/>
          </a:prstGeom>
          <a:noFill/>
          <a:ln/>
        </p:spPr>
        <p:txBody>
          <a:bodyPr wrap="square" lIns="0" tIns="0" rIns="0" bIns="0" rtlCol="0" anchor="ctr"/>
          <a:lstStyle/>
          <a:p>
            <a:pPr algn="ctr" indent="0" marL="0">
              <a:buNone/>
            </a:pPr>
            <a:r>
              <a:rPr lang="en-US" sz="1400" dirty="0">
                <a:solidFill>
                  <a:schemeClr val="bg2"/>
                </a:solidFill>
              </a:rPr>
              <a:t>Paste Nadia's sentence, or write your own.</a:t>
            </a:r>
            <a:endParaRPr lang="en-US" sz="14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Backup: WorkBuddy Run</a:t>
            </a:r>
            <a:endParaRPr lang="en-US" sz="3000" dirty="0"/>
          </a:p>
        </p:txBody>
      </p:sp>
      <p:sp>
        <p:nvSpPr>
          <p:cNvPr id="3" name="Backup frame 1"/>
          <p:cNvSpPr/>
          <p:nvPr/>
        </p:nvSpPr>
        <p:spPr>
          <a:xfrm>
            <a:off x="548640" y="1188720"/>
            <a:ext cx="5404104" cy="4754880"/>
          </a:xfrm>
          <a:prstGeom prst="roundRect">
            <a:avLst>
              <a:gd name="adj" fmla="val 1538"/>
            </a:avLst>
          </a:prstGeom>
          <a:solidFill>
            <a:srgbClr val="1E293B"/>
          </a:solidFill>
          <a:ln w="12700">
            <a:solidFill>
              <a:srgbClr val="94A3B8"/>
            </a:solidFill>
            <a:prstDash val="dash"/>
          </a:ln>
        </p:spPr>
      </p:sp>
      <p:sp>
        <p:nvSpPr>
          <p:cNvPr id="4" name="Backup label 1"/>
          <p:cNvSpPr txBox="1"/>
          <p:nvPr/>
        </p:nvSpPr>
        <p:spPr>
          <a:xfrm>
            <a:off x="548640" y="3291840"/>
            <a:ext cx="5404104" cy="457200"/>
          </a:xfrm>
          <a:prstGeom prst="rect">
            <a:avLst/>
          </a:prstGeom>
          <a:noFill/>
          <a:ln/>
        </p:spPr>
        <p:txBody>
          <a:bodyPr wrap="square" lIns="0" tIns="0" rIns="0" bIns="0" rtlCol="0" anchor="ctr"/>
          <a:lstStyle/>
          <a:p>
            <a:pPr algn="ctr" indent="0" marL="0">
              <a:buNone/>
            </a:pPr>
            <a:r>
              <a:rPr lang="en-US" sz="1600" dirty="0">
                <a:solidFill>
                  <a:schemeClr val="bg2"/>
                </a:solidFill>
              </a:rPr>
              <a:t>Paste screenshot: WorkBuddy result message</a:t>
            </a:r>
            <a:endParaRPr lang="en-US" sz="1600" dirty="0"/>
          </a:p>
        </p:txBody>
      </p:sp>
      <p:sp>
        <p:nvSpPr>
          <p:cNvPr id="5" name="Backup frame 2"/>
          <p:cNvSpPr/>
          <p:nvPr/>
        </p:nvSpPr>
        <p:spPr>
          <a:xfrm>
            <a:off x="6236208" y="1188720"/>
            <a:ext cx="5404104" cy="4754880"/>
          </a:xfrm>
          <a:prstGeom prst="roundRect">
            <a:avLst>
              <a:gd name="adj" fmla="val 1538"/>
            </a:avLst>
          </a:prstGeom>
          <a:solidFill>
            <a:srgbClr val="1E293B"/>
          </a:solidFill>
          <a:ln w="12700">
            <a:solidFill>
              <a:srgbClr val="94A3B8"/>
            </a:solidFill>
            <a:prstDash val="dash"/>
          </a:ln>
        </p:spPr>
      </p:sp>
      <p:sp>
        <p:nvSpPr>
          <p:cNvPr id="6" name="Backup label 2"/>
          <p:cNvSpPr txBox="1"/>
          <p:nvPr/>
        </p:nvSpPr>
        <p:spPr>
          <a:xfrm>
            <a:off x="6236208" y="3291840"/>
            <a:ext cx="5404104" cy="457200"/>
          </a:xfrm>
          <a:prstGeom prst="rect">
            <a:avLst/>
          </a:prstGeom>
          <a:noFill/>
          <a:ln/>
        </p:spPr>
        <p:txBody>
          <a:bodyPr wrap="square" lIns="0" tIns="0" rIns="0" bIns="0" rtlCol="0" anchor="ctr"/>
          <a:lstStyle/>
          <a:p>
            <a:pPr algn="ctr" indent="0" marL="0">
              <a:buNone/>
            </a:pPr>
            <a:r>
              <a:rPr lang="en-US" sz="1600" dirty="0">
                <a:solidFill>
                  <a:schemeClr val="bg2"/>
                </a:solidFill>
              </a:rPr>
              <a:t>Paste screenshot: Saved files + run log</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HireBuddy Night">
  <a:themeElements>
    <a:clrScheme name="HireBuddy Night">
      <a:dk1>
        <a:srgbClr val="0F172A"/>
      </a:dk1>
      <a:lt1>
        <a:srgbClr val="F1F5F9"/>
      </a:lt1>
      <a:dk2>
        <a:srgbClr val="1E293B"/>
      </a:dk2>
      <a:lt2>
        <a:srgbClr val="94A3B8"/>
      </a:lt2>
      <a:accent1>
        <a:srgbClr val="3B82F6"/>
      </a:accent1>
      <a:accent2>
        <a:srgbClr val="10B981"/>
      </a:accent2>
      <a:accent3>
        <a:srgbClr val="1E40AF"/>
      </a:accent3>
      <a:accent4>
        <a:srgbClr val="F59E0B"/>
      </a:accent4>
      <a:accent5>
        <a:srgbClr val="475569"/>
      </a:accent5>
      <a:accent6>
        <a:srgbClr val="EF4444"/>
      </a:accent6>
      <a:hlink>
        <a:srgbClr val="60A5FA"/>
      </a:hlink>
      <a:folHlink>
        <a:srgbClr val="93C5FD"/>
      </a:folHlink>
    </a:clrScheme>
    <a:fontScheme name="HireBuddy Night">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HireBuddy pitch</dc:title>
  <dc:subject>PptxGenJS Presentation</dc:subject>
  <dc:creator>PptxGenJS</dc:creator>
  <cp:lastModifiedBy>PptxGenJS</cp:lastModifiedBy>
  <cp:revision>1</cp:revision>
  <dcterms:created xsi:type="dcterms:W3CDTF">2026-10-11T02:52:39Z</dcterms:created>
  <dcterms:modified xsi:type="dcterms:W3CDTF">2026-10-11T02:52:39Z</dcterms:modified>
</cp:coreProperties>
</file>