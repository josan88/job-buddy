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27f3d069-a126-c441-4b79-4f9ed1e9e6bc}">
          <p14:sldIdLst>
            <p14:sldId id="256"/>
          </p14:sldIdLst>
        </p14:section>
        <p14:section name="Solution" id="{f60ad320-7547-1dad-47d3-a530a3b7262e}">
          <p14:sldIdLst>
            <p14:sldId id="257"/>
            <p14:sldId id="258"/>
          </p14:sldIdLst>
        </p14:section>
        <p14:section name="How it works" id="{af63021c-4878-e47f-b877-cf6dc8a9146a}">
          <p14:sldIdLst>
            <p14:sldId id="259"/>
            <p14:sldId id="260"/>
          </p14:sldIdLst>
        </p14:section>
        <p14:section name="Close" id="{9516d726-f73d-2573-830b-02eb4d915f6d}">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 20s]
Imagine you're blind and looking for your first job. Most job sites fight your screen reader, and checking every listing for pay, hours, travel and whether it needs sight takes hours. HireBuddy does that work for you, inside WorkBuddy.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[0:20-0:45 | 25s]
This is all Nadia types. Twenty-three words, no forms. HireBuddy pulls out what matters: NVDA, Subang Jaya, English and Malay, weekdays, at least RM12 an hour. She just says where her resume is, and WorkBuddy finds it and reads her work history for her application.
[ACTION: paste this sentence into WorkBuddy now and let it run while you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[0:45-1:25 | 40s]
WorkBuddy is the engine. Our skill gives it the plan. It finds her resume in Documents, then searches JobStreet, Indeed and Hiredly while HireBuddy saves her profile, in parallel. Our tools check every job, verify the result, and save it on her computer. WorkBuddy also runs a daily check, takes requests by Telegram, and sends the application she chooses from her own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[1:25-2:00 | 35s]
This is the real run on that sentence. Round one found only two jobs that fit. So the agent tested five ways to widen the search, simulating each one first. None added a job that actually suits her, so it stopped and told her what came closest, instead of padding the list with bad fits. Lowering her pay floor? It won't do that without her OK. And it cannot finish until verification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[2:00-2:35 | 35s]
[ACTION: switch to WorkBuddy and show the finished result. If it is not ready, use this screenshot.]
One sentence in. Two suitable jobs, each with a match score and the reason it suits her. Checked and verified. Nothing below the RM8.72 legal minimum, no job that needs sight, and nothing is sent until she presses Apply. HireBuddy: work that gets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[2:35-2:50 | 15s]
Scan to try it with Nadia's sentence or your own. HireBuddy: work that gets done. Thank you.
[Before presenting: open the live app a minute early, because the free server takes about a minute to wake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Only jump here if the live WorkBuddy demo is slow or fails. Say: Here is a real run WorkBuddy did end to end, for another job seeker, Nur Aqilah, who has low vision and needs remote work. WorkBuddy found 20 real listings on job sites. HireBuddy checked every one, gave a reason for each it rejected, found the one that suits her, drafted an application for one worth asking about, and passed all 6 checks. Nothing was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058400" cy="1188720"/>
          </a:xfrm>
          <a:prstGeom prst="rect">
            <a:avLst/>
          </a:prstGeom>
          <a:noFill/>
          <a:ln/>
        </p:spPr>
        <p:txBody>
          <a:bodyPr wrap="square" rtlCol="0"/>
          <a:lstStyle>
            <a:lvl1pPr algn="l" indent="0" marL="0">
              <a:buNone/>
              <a:defRPr lang="en-US" sz="6600" b="1" dirty="0">
                <a:solidFill>
                  <a:schemeClr val="accent1"/>
                </a:solidFill>
              </a:defRPr>
            </a:lvl1pPr>
          </a:lstStyle>
          <a:p>
            <a:pPr algn="l" indent="0" marL="0">
              <a:buNone/>
            </a:pPr>
            <a:endParaRPr lang="en-US" sz="6600" dirty="0"/>
          </a:p>
        </p:txBody>
      </p:sp>
      <p:sp>
        <p:nvSpPr>
          <p:cNvPr id="3" name="Text 0"/>
          <p:cNvSpPr/>
          <p:nvPr>
            <p:ph idx="101" type="body" hasCustomPrompt="1"/>
          </p:nvPr>
        </p:nvSpPr>
        <p:spPr>
          <a:xfrm>
            <a:off x="548640" y="3154680"/>
            <a:ext cx="10058400" cy="548640"/>
          </a:xfrm>
          <a:prstGeom prst="rect">
            <a:avLst/>
          </a:prstGeom>
          <a:noFill/>
          <a:ln/>
        </p:spPr>
        <p:txBody>
          <a:bodyPr wrap="square" rtlCol="0"/>
          <a:lstStyle>
            <a:lvl1pPr algn="l" indent="0" marL="0">
              <a:buNone/>
              <a:defRPr lang="en-US" sz="2400" b="1" dirty="0">
                <a:solidFill>
                  <a:schemeClr val="bg1"/>
                </a:solidFill>
              </a:defRPr>
            </a:lvl1pPr>
          </a:lstStyle>
          <a:p>
            <a:pPr algn="l" indent="0" marL="0">
              <a:buNone/>
            </a:pPr>
            <a:endParaRPr lang="en-US" sz="2400" dirty="0"/>
          </a:p>
        </p:txBody>
      </p:sp>
      <p:sp>
        <p:nvSpPr>
          <p:cNvPr id="4" name="Text 0"/>
          <p:cNvSpPr/>
          <p:nvPr/>
        </p:nvSpPr>
        <p:spPr>
          <a:xfrm>
            <a:off x="548640" y="6355080"/>
            <a:ext cx="1828800" cy="228600"/>
          </a:xfrm>
          <a:prstGeom prst="rect">
            <a:avLst/>
          </a:prstGeom>
          <a:noFill/>
          <a:ln/>
        </p:spPr>
        <p:txBody>
          <a:bodyPr wrap="square" lIns="0" tIns="0" rIns="0" bIns="0" rtlCol="0" anchor="ctr"/>
          <a:lstStyle/>
          <a:p>
            <a:pPr indent="0" marL="0">
              <a:buNone/>
            </a:pPr>
            <a:r>
              <a:rPr lang="en-US" sz="1000" dirty="0">
                <a:solidFill>
                  <a:schemeClr val="accent5"/>
                </a:solidFill>
              </a:rPr>
              <a:t>HireBuddy</a:t>
            </a:r>
            <a:endParaRPr lang="en-US" sz="1000" dirty="0"/>
          </a:p>
        </p:txBody>
      </p:sp>
      <p:sp>
        <p:nvSpPr>
          <p:cNvPr id="25" name="Slide Number Placeholder 0"/>
          <p:cNvSpPr>
            <a:spLocks noGrp="1"/>
          </p:cNvSpPr>
          <p:nvPr>
            <p:ph type="sldNum" sz="quarter" idx="4294967295"/>
          </p:nvPr>
        </p:nvSpPr>
        <p:spPr>
          <a:xfrm>
            <a:off x="1106424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972800" cy="548640"/>
          </a:xfrm>
          <a:prstGeom prst="rect">
            <a:avLst/>
          </a:prstGeom>
          <a:noFill/>
          <a:ln/>
        </p:spPr>
        <p:txBody>
          <a:bodyPr wrap="square" rtlCol="0"/>
          <a:lstStyle>
            <a:lvl1pPr algn="l" indent="0" marL="0">
              <a:buNone/>
              <a:defRPr lang="en-US" sz="3000" b="1" dirty="0">
                <a:solidFill>
                  <a:schemeClr val="accent1"/>
                </a:solidFill>
              </a:defRPr>
            </a:lvl1pPr>
          </a:lstStyle>
          <a:p>
            <a:pPr algn="l" indent="0" marL="0">
              <a:buNone/>
            </a:pPr>
            <a:endParaRPr lang="en-US" sz="3000" dirty="0"/>
          </a:p>
        </p:txBody>
      </p:sp>
      <p:sp>
        <p:nvSpPr>
          <p:cNvPr id="3" name="Text 0"/>
          <p:cNvSpPr/>
          <p:nvPr/>
        </p:nvSpPr>
        <p:spPr>
          <a:xfrm>
            <a:off x="548640" y="6355080"/>
            <a:ext cx="1828800" cy="228600"/>
          </a:xfrm>
          <a:prstGeom prst="rect">
            <a:avLst/>
          </a:prstGeom>
          <a:noFill/>
          <a:ln/>
        </p:spPr>
        <p:txBody>
          <a:bodyPr wrap="square" lIns="0" tIns="0" rIns="0" bIns="0" rtlCol="0" anchor="ctr"/>
          <a:lstStyle/>
          <a:p>
            <a:pPr indent="0" marL="0">
              <a:buNone/>
            </a:pPr>
            <a:r>
              <a:rPr lang="en-US" sz="1000" dirty="0">
                <a:solidFill>
                  <a:schemeClr val="accent5"/>
                </a:solidFill>
              </a:rPr>
              <a:t>HireBuddy</a:t>
            </a:r>
            <a:endParaRPr lang="en-US" sz="1000" dirty="0"/>
          </a:p>
        </p:txBody>
      </p:sp>
      <p:sp>
        <p:nvSpPr>
          <p:cNvPr id="25" name="Slide Number Placeholder 0"/>
          <p:cNvSpPr>
            <a:spLocks noGrp="1"/>
          </p:cNvSpPr>
          <p:nvPr>
            <p:ph type="sldNum" sz="quarter" idx="4294967295"/>
          </p:nvPr>
        </p:nvSpPr>
        <p:spPr>
          <a:xfrm>
            <a:off x="1106424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hirebuddy-k543.onrender.com" TargetMode="External"/><Relationship Id="rId4" Type="http://schemas.openxmlformats.org/officeDocument/2006/relationships/hyperlink" Target="https://github.com/Josan88/job-buddy" TargetMode="External"/><Relationship Id="rId1" Type="http://schemas.openxmlformats.org/officeDocument/2006/relationships/image" Target="../media/image-6-1.png"/><Relationship Id="rId3" Type="http://schemas.openxmlformats.org/officeDocument/2006/relationships/image" Target="../media/image-6-2.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058400" cy="1188720"/>
          </a:xfrm>
          <a:prstGeom prst="rect">
            <a:avLst/>
          </a:prstGeom>
          <a:noFill/>
          <a:ln/>
        </p:spPr>
        <p:txBody>
          <a:bodyPr wrap="square" lIns="0" tIns="0" rIns="0" bIns="0" rtlCol="0" anchor="b"/>
          <a:lstStyle/>
          <a:p>
            <a:pPr algn="l" indent="0" marL="0">
              <a:buNone/>
            </a:pPr>
            <a:r>
              <a:rPr lang="en-US" sz="6600" b="1" dirty="0">
                <a:solidFill>
                  <a:schemeClr val="accent1"/>
                </a:solidFill>
              </a:rPr>
              <a:t>HireBuddy</a:t>
            </a:r>
            <a:endParaRPr lang="en-US" sz="6600" dirty="0"/>
          </a:p>
        </p:txBody>
      </p:sp>
      <p:sp>
        <p:nvSpPr>
          <p:cNvPr id="3" name="Text 0"/>
          <p:cNvSpPr/>
          <p:nvPr>
            <p:ph idx="101" type="body" hasCustomPrompt="1"/>
          </p:nvPr>
        </p:nvSpPr>
        <p:spPr>
          <a:xfrm>
            <a:off x="548640" y="3154680"/>
            <a:ext cx="10058400" cy="548640"/>
          </a:xfrm>
          <a:prstGeom prst="rect">
            <a:avLst/>
          </a:prstGeom>
          <a:noFill/>
          <a:ln/>
        </p:spPr>
        <p:txBody>
          <a:bodyPr wrap="square" lIns="0" tIns="0" rIns="0" bIns="0" rtlCol="0"/>
          <a:lstStyle/>
          <a:p>
            <a:pPr algn="l" indent="0" marL="0">
              <a:buNone/>
            </a:pPr>
            <a:r>
              <a:rPr lang="en-US" sz="2400" b="1" dirty="0">
                <a:solidFill>
                  <a:schemeClr val="bg1"/>
                </a:solidFill>
              </a:rPr>
              <a:t>One sentence in. Checked jobs out.</a:t>
            </a:r>
            <a:endParaRPr lang="en-US" sz="2400" dirty="0"/>
          </a:p>
        </p:txBody>
      </p:sp>
      <p:sp>
        <p:nvSpPr>
          <p:cNvPr id="4" name="Problem"/>
          <p:cNvSpPr txBox="1"/>
          <p:nvPr/>
        </p:nvSpPr>
        <p:spPr>
          <a:xfrm>
            <a:off x="548640" y="3931920"/>
            <a:ext cx="10058400" cy="457200"/>
          </a:xfrm>
          <a:prstGeom prst="rect">
            <a:avLst/>
          </a:prstGeom>
          <a:noFill/>
          <a:ln/>
        </p:spPr>
        <p:txBody>
          <a:bodyPr wrap="square" lIns="0" tIns="0" rIns="0" bIns="0" rtlCol="0" anchor="ctr"/>
          <a:lstStyle/>
          <a:p>
            <a:pPr indent="0" marL="0">
              <a:buNone/>
            </a:pPr>
            <a:r>
              <a:rPr lang="en-US" sz="2000" dirty="0">
                <a:solidFill>
                  <a:schemeClr val="bg2"/>
                </a:solidFill>
              </a:rPr>
              <a:t>Job hunting with a screen reader takes hours.</a:t>
            </a:r>
            <a:endParaRPr lang="en-US" sz="2000" dirty="0"/>
          </a:p>
        </p:txBody>
      </p:sp>
      <p:sp>
        <p:nvSpPr>
          <p:cNvPr id="25" name="Slide Number Placeholder 0"/>
          <p:cNvSpPr>
            <a:spLocks noGrp="1"/>
          </p:cNvSpPr>
          <p:nvPr>
            <p:ph type="sldNum" sz="quarter" idx="4294967295"/>
          </p:nvPr>
        </p:nvSpPr>
        <p:spPr>
          <a:xfrm>
            <a:off x="1106424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972800" cy="548640"/>
          </a:xfrm>
          <a:prstGeom prst="rect">
            <a:avLst/>
          </a:prstGeom>
          <a:noFill/>
          <a:ln/>
        </p:spPr>
        <p:txBody>
          <a:bodyPr wrap="square" lIns="0" tIns="0" rIns="0" bIns="0" rtlCol="0" anchor="t"/>
          <a:lstStyle/>
          <a:p>
            <a:pPr algn="l" indent="0" marL="0">
              <a:buNone/>
            </a:pPr>
            <a:r>
              <a:rPr lang="en-US" sz="3000" b="1" dirty="0">
                <a:solidFill>
                  <a:schemeClr val="accent1"/>
                </a:solidFill>
              </a:rPr>
              <a:t>One Prompt</a:t>
            </a:r>
            <a:endParaRPr lang="en-US" sz="3000" dirty="0"/>
          </a:p>
        </p:txBody>
      </p:sp>
      <p:sp>
        <p:nvSpPr>
          <p:cNvPr id="3" name="Quote card"/>
          <p:cNvSpPr/>
          <p:nvPr/>
        </p:nvSpPr>
        <p:spPr>
          <a:xfrm>
            <a:off x="548640" y="1417320"/>
            <a:ext cx="6400800" cy="4206240"/>
          </a:xfrm>
          <a:prstGeom prst="roundRect">
            <a:avLst>
              <a:gd name="adj" fmla="val 2174"/>
            </a:avLst>
          </a:prstGeom>
          <a:solidFill>
            <a:srgbClr val="1E293B"/>
          </a:solidFill>
          <a:ln/>
        </p:spPr>
      </p:sp>
      <p:sp>
        <p:nvSpPr>
          <p:cNvPr id="4" name="Quote"/>
          <p:cNvSpPr txBox="1"/>
          <p:nvPr/>
        </p:nvSpPr>
        <p:spPr>
          <a:xfrm>
            <a:off x="868680" y="1645920"/>
            <a:ext cx="5760720" cy="3749040"/>
          </a:xfrm>
          <a:prstGeom prst="rect">
            <a:avLst/>
          </a:prstGeom>
          <a:noFill/>
          <a:ln/>
        </p:spPr>
        <p:txBody>
          <a:bodyPr wrap="square" lIns="0" tIns="0" rIns="0" bIns="0" rtlCol="0" anchor="ctr"/>
          <a:lstStyle/>
          <a:p>
            <a:pPr indent="0" marL="0">
              <a:lnSpc>
                <a:spcPct val="130000"/>
              </a:lnSpc>
              <a:buNone/>
            </a:pPr>
            <a:r>
              <a:rPr lang="en-US" sz="2600" i="1" dirty="0">
                <a:solidFill>
                  <a:schemeClr val="bg1"/>
                </a:solidFill>
              </a:rPr>
              <a:t>"I'm Nadia, blind, NVDA user in Subang Jaya. I type fast in English and Malay. Weekdays 9am-5pm, min RM12/hr. Resume is in Documents."</a:t>
            </a:r>
            <a:endParaRPr lang="en-US" sz="2600" dirty="0"/>
          </a:p>
        </p:txBody>
      </p:sp>
      <p:sp>
        <p:nvSpPr>
          <p:cNvPr id="5" name="Group 1"/>
          <p:cNvSpPr txBox="1"/>
          <p:nvPr/>
        </p:nvSpPr>
        <p:spPr>
          <a:xfrm>
            <a:off x="7406640" y="1417320"/>
            <a:ext cx="4206240" cy="320040"/>
          </a:xfrm>
          <a:prstGeom prst="rect">
            <a:avLst/>
          </a:prstGeom>
          <a:noFill/>
          <a:ln/>
        </p:spPr>
        <p:txBody>
          <a:bodyPr wrap="square" lIns="0" tIns="0" rIns="0" bIns="0" rtlCol="0" anchor="ctr"/>
          <a:lstStyle/>
          <a:p>
            <a:pPr indent="0" marL="0">
              <a:buNone/>
            </a:pPr>
            <a:r>
              <a:rPr lang="en-US" sz="1300" dirty="0">
                <a:solidFill>
                  <a:schemeClr val="bg2"/>
                </a:solidFill>
              </a:rPr>
              <a:t>From her sentence</a:t>
            </a:r>
            <a:endParaRPr lang="en-US" sz="1300" dirty="0"/>
          </a:p>
        </p:txBody>
      </p:sp>
      <p:sp>
        <p:nvSpPr>
          <p:cNvPr id="6" name="Need 1"/>
          <p:cNvSpPr txBox="1"/>
          <p:nvPr/>
        </p:nvSpPr>
        <p:spPr>
          <a:xfrm>
            <a:off x="7406640" y="1783080"/>
            <a:ext cx="4206240" cy="502920"/>
          </a:xfrm>
          <a:prstGeom prst="roundRect">
            <a:avLst>
              <a:gd name="adj" fmla="val 14545"/>
            </a:avLst>
          </a:prstGeom>
          <a:solidFill>
            <a:srgbClr val="1E293B"/>
          </a:solidFill>
          <a:ln w="15875">
            <a:solidFill>
              <a:srgbClr val="3B82F6"/>
            </a:solidFill>
          </a:ln>
        </p:spPr>
        <p:txBody>
          <a:bodyPr wrap="square" lIns="152400" tIns="152400" rIns="152400" bIns="152400" rtlCol="0" anchor="ctr"/>
          <a:lstStyle/>
          <a:p>
            <a:pPr algn="l" indent="0" marL="0">
              <a:buNone/>
            </a:pPr>
            <a:r>
              <a:rPr lang="en-US" sz="1600" b="1" dirty="0">
                <a:solidFill>
                  <a:schemeClr val="bg1"/>
                </a:solidFill>
              </a:rPr>
              <a:t>Blind, uses NVDA</a:t>
            </a:r>
            <a:endParaRPr lang="en-US" sz="1600" dirty="0"/>
          </a:p>
        </p:txBody>
      </p:sp>
      <p:sp>
        <p:nvSpPr>
          <p:cNvPr id="7" name="Need 2"/>
          <p:cNvSpPr txBox="1"/>
          <p:nvPr/>
        </p:nvSpPr>
        <p:spPr>
          <a:xfrm>
            <a:off x="7406640" y="2404872"/>
            <a:ext cx="4206240" cy="502920"/>
          </a:xfrm>
          <a:prstGeom prst="roundRect">
            <a:avLst>
              <a:gd name="adj" fmla="val 14545"/>
            </a:avLst>
          </a:prstGeom>
          <a:solidFill>
            <a:srgbClr val="1E293B"/>
          </a:solidFill>
          <a:ln w="15875">
            <a:solidFill>
              <a:srgbClr val="3B82F6"/>
            </a:solidFill>
          </a:ln>
        </p:spPr>
        <p:txBody>
          <a:bodyPr wrap="square" lIns="152400" tIns="152400" rIns="152400" bIns="152400" rtlCol="0" anchor="ctr"/>
          <a:lstStyle/>
          <a:p>
            <a:pPr algn="l" indent="0" marL="0">
              <a:buNone/>
            </a:pPr>
            <a:r>
              <a:rPr lang="en-US" sz="1600" b="1" dirty="0">
                <a:solidFill>
                  <a:schemeClr val="bg1"/>
                </a:solidFill>
              </a:rPr>
              <a:t>Subang Jaya</a:t>
            </a:r>
            <a:endParaRPr lang="en-US" sz="1600" dirty="0"/>
          </a:p>
        </p:txBody>
      </p:sp>
      <p:sp>
        <p:nvSpPr>
          <p:cNvPr id="8" name="Need 3"/>
          <p:cNvSpPr txBox="1"/>
          <p:nvPr/>
        </p:nvSpPr>
        <p:spPr>
          <a:xfrm>
            <a:off x="7406640" y="3026664"/>
            <a:ext cx="4206240" cy="502920"/>
          </a:xfrm>
          <a:prstGeom prst="roundRect">
            <a:avLst>
              <a:gd name="adj" fmla="val 14545"/>
            </a:avLst>
          </a:prstGeom>
          <a:solidFill>
            <a:srgbClr val="1E293B"/>
          </a:solidFill>
          <a:ln w="15875">
            <a:solidFill>
              <a:srgbClr val="3B82F6"/>
            </a:solidFill>
          </a:ln>
        </p:spPr>
        <p:txBody>
          <a:bodyPr wrap="square" lIns="152400" tIns="152400" rIns="152400" bIns="152400" rtlCol="0" anchor="ctr"/>
          <a:lstStyle/>
          <a:p>
            <a:pPr algn="l" indent="0" marL="0">
              <a:buNone/>
            </a:pPr>
            <a:r>
              <a:rPr lang="en-US" sz="1600" b="1" dirty="0">
                <a:solidFill>
                  <a:schemeClr val="bg1"/>
                </a:solidFill>
              </a:rPr>
              <a:t>English, Malay, typing</a:t>
            </a:r>
            <a:endParaRPr lang="en-US" sz="1600" dirty="0"/>
          </a:p>
        </p:txBody>
      </p:sp>
      <p:sp>
        <p:nvSpPr>
          <p:cNvPr id="9" name="Need 4"/>
          <p:cNvSpPr txBox="1"/>
          <p:nvPr/>
        </p:nvSpPr>
        <p:spPr>
          <a:xfrm>
            <a:off x="7406640" y="3648456"/>
            <a:ext cx="4206240" cy="502920"/>
          </a:xfrm>
          <a:prstGeom prst="roundRect">
            <a:avLst>
              <a:gd name="adj" fmla="val 14545"/>
            </a:avLst>
          </a:prstGeom>
          <a:solidFill>
            <a:srgbClr val="1E293B"/>
          </a:solidFill>
          <a:ln w="15875">
            <a:solidFill>
              <a:srgbClr val="3B82F6"/>
            </a:solidFill>
          </a:ln>
        </p:spPr>
        <p:txBody>
          <a:bodyPr wrap="square" lIns="152400" tIns="152400" rIns="152400" bIns="152400" rtlCol="0" anchor="ctr"/>
          <a:lstStyle/>
          <a:p>
            <a:pPr algn="l" indent="0" marL="0">
              <a:buNone/>
            </a:pPr>
            <a:r>
              <a:rPr lang="en-US" sz="1600" b="1" dirty="0">
                <a:solidFill>
                  <a:schemeClr val="bg1"/>
                </a:solidFill>
              </a:rPr>
              <a:t>Weekdays 9 to 5</a:t>
            </a:r>
            <a:endParaRPr lang="en-US" sz="1600" dirty="0"/>
          </a:p>
        </p:txBody>
      </p:sp>
      <p:sp>
        <p:nvSpPr>
          <p:cNvPr id="10" name="Need 5"/>
          <p:cNvSpPr txBox="1"/>
          <p:nvPr/>
        </p:nvSpPr>
        <p:spPr>
          <a:xfrm>
            <a:off x="7406640" y="4270248"/>
            <a:ext cx="4206240" cy="502920"/>
          </a:xfrm>
          <a:prstGeom prst="roundRect">
            <a:avLst>
              <a:gd name="adj" fmla="val 14545"/>
            </a:avLst>
          </a:prstGeom>
          <a:solidFill>
            <a:srgbClr val="1E293B"/>
          </a:solidFill>
          <a:ln w="15875">
            <a:solidFill>
              <a:srgbClr val="3B82F6"/>
            </a:solidFill>
          </a:ln>
        </p:spPr>
        <p:txBody>
          <a:bodyPr wrap="square" lIns="152400" tIns="152400" rIns="152400" bIns="152400" rtlCol="0" anchor="ctr"/>
          <a:lstStyle/>
          <a:p>
            <a:pPr algn="l" indent="0" marL="0">
              <a:buNone/>
            </a:pPr>
            <a:r>
              <a:rPr lang="en-US" sz="1600" b="1" dirty="0">
                <a:solidFill>
                  <a:schemeClr val="bg1"/>
                </a:solidFill>
              </a:rPr>
              <a:t>RM12/hr minimum</a:t>
            </a:r>
            <a:endParaRPr lang="en-US" sz="1600" dirty="0"/>
          </a:p>
        </p:txBody>
      </p:sp>
      <p:sp>
        <p:nvSpPr>
          <p:cNvPr id="11" name="Group 2"/>
          <p:cNvSpPr txBox="1"/>
          <p:nvPr/>
        </p:nvSpPr>
        <p:spPr>
          <a:xfrm>
            <a:off x="7406640" y="4983480"/>
            <a:ext cx="4206240" cy="320040"/>
          </a:xfrm>
          <a:prstGeom prst="rect">
            <a:avLst/>
          </a:prstGeom>
          <a:noFill/>
          <a:ln/>
        </p:spPr>
        <p:txBody>
          <a:bodyPr wrap="square" lIns="0" tIns="0" rIns="0" bIns="0" rtlCol="0" anchor="ctr"/>
          <a:lstStyle/>
          <a:p>
            <a:pPr indent="0" marL="0">
              <a:buNone/>
            </a:pPr>
            <a:r>
              <a:rPr lang="en-US" sz="1300" dirty="0">
                <a:solidFill>
                  <a:schemeClr val="bg2"/>
                </a:solidFill>
              </a:rPr>
              <a:t>From her resume</a:t>
            </a:r>
            <a:endParaRPr lang="en-US" sz="1300" dirty="0"/>
          </a:p>
        </p:txBody>
      </p:sp>
      <p:sp>
        <p:nvSpPr>
          <p:cNvPr id="12" name="Need 6"/>
          <p:cNvSpPr txBox="1"/>
          <p:nvPr/>
        </p:nvSpPr>
        <p:spPr>
          <a:xfrm>
            <a:off x="7406640" y="5349240"/>
            <a:ext cx="4206240" cy="502920"/>
          </a:xfrm>
          <a:prstGeom prst="roundRect">
            <a:avLst>
              <a:gd name="adj" fmla="val 14545"/>
            </a:avLst>
          </a:prstGeom>
          <a:solidFill>
            <a:srgbClr val="1E293B"/>
          </a:solidFill>
          <a:ln w="15875">
            <a:solidFill>
              <a:srgbClr val="10B981"/>
            </a:solidFill>
          </a:ln>
        </p:spPr>
        <p:txBody>
          <a:bodyPr wrap="square" lIns="152400" tIns="152400" rIns="152400" bIns="152400" rtlCol="0" anchor="ctr"/>
          <a:lstStyle/>
          <a:p>
            <a:pPr algn="l" indent="0" marL="0">
              <a:buNone/>
            </a:pPr>
            <a:r>
              <a:rPr lang="en-US" sz="1600" b="1" dirty="0">
                <a:solidFill>
                  <a:schemeClr val="accent2"/>
                </a:solidFill>
              </a:rPr>
              <a:t>Bank hotline, 1 year</a:t>
            </a:r>
            <a:endParaRPr lang="en-US" sz="1600" dirty="0"/>
          </a:p>
        </p:txBody>
      </p:sp>
      <p:sp>
        <p:nvSpPr>
          <p:cNvPr id="25" name="Slide Number Placeholder 0"/>
          <p:cNvSpPr>
            <a:spLocks noGrp="1"/>
          </p:cNvSpPr>
          <p:nvPr>
            <p:ph type="sldNum" sz="quarter" idx="4294967295"/>
          </p:nvPr>
        </p:nvSpPr>
        <p:spPr>
          <a:xfrm>
            <a:off x="1106424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972800" cy="548640"/>
          </a:xfrm>
          <a:prstGeom prst="rect">
            <a:avLst/>
          </a:prstGeom>
          <a:noFill/>
          <a:ln/>
        </p:spPr>
        <p:txBody>
          <a:bodyPr wrap="square" lIns="0" tIns="0" rIns="0" bIns="0" rtlCol="0" anchor="t"/>
          <a:lstStyle/>
          <a:p>
            <a:pPr algn="l" indent="0" marL="0">
              <a:buNone/>
            </a:pPr>
            <a:r>
              <a:rPr lang="en-US" sz="3000" b="1" dirty="0">
                <a:solidFill>
                  <a:schemeClr val="accent1"/>
                </a:solidFill>
              </a:rPr>
              <a:t>WorkBuddy Is the Engine</a:t>
            </a:r>
            <a:endParaRPr lang="en-US" sz="3000" dirty="0"/>
          </a:p>
        </p:txBody>
      </p:sp>
      <p:sp>
        <p:nvSpPr>
          <p:cNvPr id="3" name="Prompt"/>
          <p:cNvSpPr txBox="1"/>
          <p:nvPr/>
        </p:nvSpPr>
        <p:spPr>
          <a:xfrm>
            <a:off x="548640" y="2103120"/>
            <a:ext cx="1463040" cy="914400"/>
          </a:xfrm>
          <a:prstGeom prst="roundRect">
            <a:avLst>
              <a:gd name="adj" fmla="val 8000"/>
            </a:avLst>
          </a:prstGeom>
          <a:solidFill>
            <a:srgbClr val="1E40AF"/>
          </a:solidFill>
          <a:ln/>
        </p:spPr>
        <p:txBody>
          <a:bodyPr wrap="square" lIns="50800" tIns="50800" rIns="50800" bIns="50800" rtlCol="0" anchor="ctr"/>
          <a:lstStyle/>
          <a:p>
            <a:pPr algn="ctr" indent="0" marL="0">
              <a:buNone/>
            </a:pPr>
            <a:r>
              <a:rPr lang="en-US" sz="1400" b="1" dirty="0">
                <a:solidFill>
                  <a:schemeClr val="bg1"/>
                </a:solidFill>
              </a:rPr>
              <a:t>Her sentence</a:t>
            </a:r>
            <a:endParaRPr lang="en-US" sz="1400" dirty="0"/>
          </a:p>
        </p:txBody>
      </p:sp>
      <p:sp>
        <p:nvSpPr>
          <p:cNvPr id="4" name="Arrow 1"/>
          <p:cNvSpPr/>
          <p:nvPr/>
        </p:nvSpPr>
        <p:spPr>
          <a:xfrm>
            <a:off x="2011680" y="2560320"/>
            <a:ext cx="274320" cy="0"/>
          </a:xfrm>
          <a:prstGeom prst="line">
            <a:avLst/>
          </a:prstGeom>
          <a:noFill/>
          <a:ln w="25400">
            <a:solidFill>
              <a:schemeClr val="accent5"/>
            </a:solidFill>
            <a:prstDash val="solid"/>
            <a:tailEnd type="triangle"/>
          </a:ln>
        </p:spPr>
      </p:sp>
      <p:sp>
        <p:nvSpPr>
          <p:cNvPr id="5" name="Find resume"/>
          <p:cNvSpPr txBox="1"/>
          <p:nvPr/>
        </p:nvSpPr>
        <p:spPr>
          <a:xfrm>
            <a:off x="2286000" y="2103120"/>
            <a:ext cx="1463040" cy="914400"/>
          </a:xfrm>
          <a:prstGeom prst="roundRect">
            <a:avLst>
              <a:gd name="adj" fmla="val 8000"/>
            </a:avLst>
          </a:prstGeom>
          <a:solidFill>
            <a:srgbClr val="1E40AF"/>
          </a:solidFill>
          <a:ln/>
        </p:spPr>
        <p:txBody>
          <a:bodyPr wrap="square" lIns="50800" tIns="50800" rIns="50800" bIns="50800" rtlCol="0" anchor="ctr"/>
          <a:lstStyle/>
          <a:p>
            <a:pPr algn="ctr" indent="0" marL="0">
              <a:buNone/>
            </a:pPr>
            <a:r>
              <a:rPr lang="en-US" sz="1400" b="1" dirty="0">
                <a:solidFill>
                  <a:schemeClr val="bg1"/>
                </a:solidFill>
              </a:rPr>
              <a:t>Reads her resume</a:t>
            </a:r>
            <a:endParaRPr lang="en-US" sz="1400" dirty="0"/>
          </a:p>
        </p:txBody>
      </p:sp>
      <p:sp>
        <p:nvSpPr>
          <p:cNvPr id="6" name="Arrow 2"/>
          <p:cNvSpPr/>
          <p:nvPr/>
        </p:nvSpPr>
        <p:spPr>
          <a:xfrm>
            <a:off x="3749040" y="2560320"/>
            <a:ext cx="274320" cy="0"/>
          </a:xfrm>
          <a:prstGeom prst="line">
            <a:avLst/>
          </a:prstGeom>
          <a:noFill/>
          <a:ln w="25400">
            <a:solidFill>
              <a:schemeClr val="accent5"/>
            </a:solidFill>
            <a:prstDash val="solid"/>
            <a:tailEnd type="triangle"/>
          </a:ln>
        </p:spPr>
      </p:sp>
      <p:sp>
        <p:nvSpPr>
          <p:cNvPr id="7" name="Search job sites"/>
          <p:cNvSpPr txBox="1"/>
          <p:nvPr/>
        </p:nvSpPr>
        <p:spPr>
          <a:xfrm>
            <a:off x="4023360" y="1600200"/>
            <a:ext cx="1828800" cy="777240"/>
          </a:xfrm>
          <a:prstGeom prst="roundRect">
            <a:avLst>
              <a:gd name="adj" fmla="val 9412"/>
            </a:avLst>
          </a:prstGeom>
          <a:solidFill>
            <a:srgbClr val="1E40AF"/>
          </a:solidFill>
          <a:ln/>
        </p:spPr>
        <p:txBody>
          <a:bodyPr wrap="square" lIns="50800" tIns="50800" rIns="50800" bIns="50800" rtlCol="0" anchor="ctr"/>
          <a:lstStyle/>
          <a:p>
            <a:pPr algn="ctr" indent="0" marL="0">
              <a:buNone/>
            </a:pPr>
            <a:r>
              <a:rPr lang="en-US" sz="1400" b="1" dirty="0">
                <a:solidFill>
                  <a:schemeClr val="bg1"/>
                </a:solidFill>
              </a:rPr>
              <a:t>Searches job sites</a:t>
            </a:r>
            <a:endParaRPr lang="en-US" sz="1400" dirty="0"/>
          </a:p>
        </p:txBody>
      </p:sp>
      <p:sp>
        <p:nvSpPr>
          <p:cNvPr id="8" name="Understand"/>
          <p:cNvSpPr txBox="1"/>
          <p:nvPr/>
        </p:nvSpPr>
        <p:spPr>
          <a:xfrm>
            <a:off x="4023360" y="2697480"/>
            <a:ext cx="1828800" cy="777240"/>
          </a:xfrm>
          <a:prstGeom prst="roundRect">
            <a:avLst>
              <a:gd name="adj" fmla="val 9412"/>
            </a:avLst>
          </a:prstGeom>
          <a:solidFill>
            <a:srgbClr val="3B82F6"/>
          </a:solidFill>
          <a:ln/>
        </p:spPr>
        <p:txBody>
          <a:bodyPr wrap="square" lIns="50800" tIns="50800" rIns="50800" bIns="50800" rtlCol="0" anchor="ctr"/>
          <a:lstStyle/>
          <a:p>
            <a:pPr algn="ctr" indent="0" marL="0">
              <a:buNone/>
            </a:pPr>
            <a:r>
              <a:rPr lang="en-US" sz="1400" b="1" dirty="0">
                <a:solidFill>
                  <a:schemeClr val="bg1"/>
                </a:solidFill>
              </a:rPr>
              <a:t>Saves profile</a:t>
            </a:r>
            <a:endParaRPr lang="en-US" sz="1400" dirty="0"/>
          </a:p>
        </p:txBody>
      </p:sp>
      <p:sp>
        <p:nvSpPr>
          <p:cNvPr id="9" name="Parallel label"/>
          <p:cNvSpPr txBox="1"/>
          <p:nvPr/>
        </p:nvSpPr>
        <p:spPr>
          <a:xfrm>
            <a:off x="4023360" y="3520440"/>
            <a:ext cx="1828800" cy="274320"/>
          </a:xfrm>
          <a:prstGeom prst="rect">
            <a:avLst/>
          </a:prstGeom>
          <a:noFill/>
          <a:ln/>
        </p:spPr>
        <p:txBody>
          <a:bodyPr wrap="square" lIns="0" tIns="0" rIns="0" bIns="0" rtlCol="0" anchor="ctr"/>
          <a:lstStyle/>
          <a:p>
            <a:pPr algn="ctr" indent="0" marL="0">
              <a:buNone/>
            </a:pPr>
            <a:r>
              <a:rPr lang="en-US" sz="1200" i="1" dirty="0">
                <a:solidFill>
                  <a:schemeClr val="accent2"/>
                </a:solidFill>
              </a:rPr>
              <a:t>in parallel</a:t>
            </a:r>
            <a:endParaRPr lang="en-US" sz="1200" dirty="0"/>
          </a:p>
        </p:txBody>
      </p:sp>
      <p:sp>
        <p:nvSpPr>
          <p:cNvPr id="10" name="Arrow 3a"/>
          <p:cNvSpPr/>
          <p:nvPr/>
        </p:nvSpPr>
        <p:spPr>
          <a:xfrm>
            <a:off x="5852160" y="1984248"/>
            <a:ext cx="320040" cy="457200"/>
          </a:xfrm>
          <a:prstGeom prst="line">
            <a:avLst/>
          </a:prstGeom>
          <a:noFill/>
          <a:ln w="25400">
            <a:solidFill>
              <a:schemeClr val="accent5"/>
            </a:solidFill>
            <a:prstDash val="solid"/>
            <a:tailEnd type="triangle"/>
          </a:ln>
        </p:spPr>
      </p:sp>
      <p:sp>
        <p:nvSpPr>
          <p:cNvPr id="11" name="Arrow 3b"/>
          <p:cNvSpPr/>
          <p:nvPr/>
        </p:nvSpPr>
        <p:spPr>
          <a:xfrm flipV="1">
            <a:off x="5852160" y="2624328"/>
            <a:ext cx="320040" cy="457200"/>
          </a:xfrm>
          <a:prstGeom prst="line">
            <a:avLst/>
          </a:prstGeom>
          <a:noFill/>
          <a:ln w="25400">
            <a:solidFill>
              <a:schemeClr val="accent5"/>
            </a:solidFill>
            <a:prstDash val="solid"/>
            <a:tailEnd type="triangle"/>
          </a:ln>
        </p:spPr>
      </p:sp>
      <p:sp>
        <p:nvSpPr>
          <p:cNvPr id="12" name="Check jobs"/>
          <p:cNvSpPr txBox="1"/>
          <p:nvPr/>
        </p:nvSpPr>
        <p:spPr>
          <a:xfrm>
            <a:off x="6172200" y="2103120"/>
            <a:ext cx="1645920" cy="914400"/>
          </a:xfrm>
          <a:prstGeom prst="roundRect">
            <a:avLst>
              <a:gd name="adj" fmla="val 8000"/>
            </a:avLst>
          </a:prstGeom>
          <a:solidFill>
            <a:srgbClr val="3B82F6"/>
          </a:solidFill>
          <a:ln/>
        </p:spPr>
        <p:txBody>
          <a:bodyPr wrap="square" lIns="50800" tIns="50800" rIns="50800" bIns="50800" rtlCol="0" anchor="ctr"/>
          <a:lstStyle/>
          <a:p>
            <a:pPr algn="ctr" indent="0" marL="0">
              <a:buNone/>
            </a:pPr>
            <a:r>
              <a:rPr lang="en-US" sz="1400" b="1" dirty="0">
                <a:solidFill>
                  <a:schemeClr val="bg1"/>
                </a:solidFill>
              </a:rPr>
              <a:t>Checks every job</a:t>
            </a:r>
            <a:endParaRPr lang="en-US" sz="1400" dirty="0"/>
          </a:p>
        </p:txBody>
      </p:sp>
      <p:sp>
        <p:nvSpPr>
          <p:cNvPr id="13" name="Arrow 4"/>
          <p:cNvSpPr/>
          <p:nvPr/>
        </p:nvSpPr>
        <p:spPr>
          <a:xfrm>
            <a:off x="7818120" y="2560320"/>
            <a:ext cx="274320" cy="0"/>
          </a:xfrm>
          <a:prstGeom prst="line">
            <a:avLst/>
          </a:prstGeom>
          <a:noFill/>
          <a:ln w="25400">
            <a:solidFill>
              <a:schemeClr val="accent5"/>
            </a:solidFill>
            <a:prstDash val="solid"/>
            <a:tailEnd type="triangle"/>
          </a:ln>
        </p:spPr>
      </p:sp>
      <p:sp>
        <p:nvSpPr>
          <p:cNvPr id="14" name="Verify"/>
          <p:cNvSpPr txBox="1"/>
          <p:nvPr/>
        </p:nvSpPr>
        <p:spPr>
          <a:xfrm>
            <a:off x="8092440" y="2103120"/>
            <a:ext cx="1463040" cy="914400"/>
          </a:xfrm>
          <a:prstGeom prst="roundRect">
            <a:avLst>
              <a:gd name="adj" fmla="val 8000"/>
            </a:avLst>
          </a:prstGeom>
          <a:solidFill>
            <a:srgbClr val="10B981"/>
          </a:solidFill>
          <a:ln/>
        </p:spPr>
        <p:txBody>
          <a:bodyPr wrap="square" lIns="50800" tIns="50800" rIns="50800" bIns="50800" rtlCol="0" anchor="ctr"/>
          <a:lstStyle/>
          <a:p>
            <a:pPr algn="ctr" indent="0" marL="0">
              <a:buNone/>
            </a:pPr>
            <a:r>
              <a:rPr lang="en-US" sz="1400" b="1" dirty="0">
                <a:solidFill>
                  <a:schemeClr val="bg1"/>
                </a:solidFill>
              </a:rPr>
              <a:t>Verifies</a:t>
            </a:r>
            <a:endParaRPr lang="en-US" sz="1400" dirty="0"/>
          </a:p>
        </p:txBody>
      </p:sp>
      <p:sp>
        <p:nvSpPr>
          <p:cNvPr id="15" name="Arrow 5"/>
          <p:cNvSpPr/>
          <p:nvPr/>
        </p:nvSpPr>
        <p:spPr>
          <a:xfrm>
            <a:off x="9555480" y="2560320"/>
            <a:ext cx="274320" cy="0"/>
          </a:xfrm>
          <a:prstGeom prst="line">
            <a:avLst/>
          </a:prstGeom>
          <a:noFill/>
          <a:ln w="25400">
            <a:solidFill>
              <a:schemeClr val="accent5"/>
            </a:solidFill>
            <a:prstDash val="solid"/>
            <a:tailEnd type="triangle"/>
          </a:ln>
        </p:spPr>
      </p:sp>
      <p:sp>
        <p:nvSpPr>
          <p:cNvPr id="16" name="Deliver"/>
          <p:cNvSpPr txBox="1"/>
          <p:nvPr/>
        </p:nvSpPr>
        <p:spPr>
          <a:xfrm>
            <a:off x="9829800" y="2103120"/>
            <a:ext cx="1810512" cy="914400"/>
          </a:xfrm>
          <a:prstGeom prst="roundRect">
            <a:avLst>
              <a:gd name="adj" fmla="val 8000"/>
            </a:avLst>
          </a:prstGeom>
          <a:solidFill>
            <a:srgbClr val="1E40AF"/>
          </a:solidFill>
          <a:ln/>
        </p:spPr>
        <p:txBody>
          <a:bodyPr wrap="square" lIns="50800" tIns="50800" rIns="50800" bIns="50800" rtlCol="0" anchor="ctr"/>
          <a:lstStyle/>
          <a:p>
            <a:pPr algn="ctr" indent="0" marL="0">
              <a:buNone/>
            </a:pPr>
            <a:r>
              <a:rPr lang="en-US" sz="1400" b="1" dirty="0">
                <a:solidFill>
                  <a:schemeClr val="bg1"/>
                </a:solidFill>
              </a:rPr>
              <a:t>Saves results</a:t>
            </a:r>
            <a:endParaRPr lang="en-US" sz="1400" dirty="0"/>
          </a:p>
        </p:txBody>
      </p:sp>
      <p:sp>
        <p:nvSpPr>
          <p:cNvPr id="17" name="Legend 1 swatch"/>
          <p:cNvSpPr/>
          <p:nvPr/>
        </p:nvSpPr>
        <p:spPr>
          <a:xfrm>
            <a:off x="548640" y="4069080"/>
            <a:ext cx="256032" cy="256032"/>
          </a:xfrm>
          <a:prstGeom prst="roundRect">
            <a:avLst>
              <a:gd name="adj" fmla="val 17857"/>
            </a:avLst>
          </a:prstGeom>
          <a:solidFill>
            <a:srgbClr val="1E40AF"/>
          </a:solidFill>
          <a:ln/>
        </p:spPr>
      </p:sp>
      <p:sp>
        <p:nvSpPr>
          <p:cNvPr id="18" name="Legend 1"/>
          <p:cNvSpPr txBox="1"/>
          <p:nvPr/>
        </p:nvSpPr>
        <p:spPr>
          <a:xfrm>
            <a:off x="914400" y="4050792"/>
            <a:ext cx="2011680" cy="292608"/>
          </a:xfrm>
          <a:prstGeom prst="rect">
            <a:avLst/>
          </a:prstGeom>
          <a:noFill/>
          <a:ln/>
        </p:spPr>
        <p:txBody>
          <a:bodyPr wrap="square" lIns="0" tIns="0" rIns="0" bIns="0" rtlCol="0" anchor="ctr"/>
          <a:lstStyle/>
          <a:p>
            <a:pPr indent="0" marL="0">
              <a:buNone/>
            </a:pPr>
            <a:r>
              <a:rPr lang="en-US" sz="1300" dirty="0">
                <a:solidFill>
                  <a:schemeClr val="bg2"/>
                </a:solidFill>
              </a:rPr>
              <a:t>WorkBuddy</a:t>
            </a:r>
            <a:endParaRPr lang="en-US" sz="1300" dirty="0"/>
          </a:p>
        </p:txBody>
      </p:sp>
      <p:sp>
        <p:nvSpPr>
          <p:cNvPr id="19" name="Legend 2 swatch"/>
          <p:cNvSpPr/>
          <p:nvPr/>
        </p:nvSpPr>
        <p:spPr>
          <a:xfrm>
            <a:off x="2926080" y="4069080"/>
            <a:ext cx="256032" cy="256032"/>
          </a:xfrm>
          <a:prstGeom prst="roundRect">
            <a:avLst>
              <a:gd name="adj" fmla="val 17857"/>
            </a:avLst>
          </a:prstGeom>
          <a:solidFill>
            <a:srgbClr val="3B82F6"/>
          </a:solidFill>
          <a:ln/>
        </p:spPr>
      </p:sp>
      <p:sp>
        <p:nvSpPr>
          <p:cNvPr id="20" name="Legend 2"/>
          <p:cNvSpPr txBox="1"/>
          <p:nvPr/>
        </p:nvSpPr>
        <p:spPr>
          <a:xfrm>
            <a:off x="3291840" y="4050792"/>
            <a:ext cx="2011680" cy="292608"/>
          </a:xfrm>
          <a:prstGeom prst="rect">
            <a:avLst/>
          </a:prstGeom>
          <a:noFill/>
          <a:ln/>
        </p:spPr>
        <p:txBody>
          <a:bodyPr wrap="square" lIns="0" tIns="0" rIns="0" bIns="0" rtlCol="0" anchor="ctr"/>
          <a:lstStyle/>
          <a:p>
            <a:pPr indent="0" marL="0">
              <a:buNone/>
            </a:pPr>
            <a:r>
              <a:rPr lang="en-US" sz="1300" dirty="0">
                <a:solidFill>
                  <a:schemeClr val="bg2"/>
                </a:solidFill>
              </a:rPr>
              <a:t>HireBuddy MCP tools</a:t>
            </a:r>
            <a:endParaRPr lang="en-US" sz="1300" dirty="0"/>
          </a:p>
        </p:txBody>
      </p:sp>
      <p:sp>
        <p:nvSpPr>
          <p:cNvPr id="21" name="Features label"/>
          <p:cNvSpPr txBox="1"/>
          <p:nvPr/>
        </p:nvSpPr>
        <p:spPr>
          <a:xfrm>
            <a:off x="548640" y="4800600"/>
            <a:ext cx="5486400" cy="320040"/>
          </a:xfrm>
          <a:prstGeom prst="rect">
            <a:avLst/>
          </a:prstGeom>
          <a:noFill/>
          <a:ln/>
        </p:spPr>
        <p:txBody>
          <a:bodyPr wrap="square" lIns="0" tIns="0" rIns="0" bIns="0" rtlCol="0" anchor="ctr"/>
          <a:lstStyle/>
          <a:p>
            <a:pPr indent="0" marL="0">
              <a:buNone/>
            </a:pPr>
            <a:r>
              <a:rPr lang="en-US" sz="1300" dirty="0">
                <a:solidFill>
                  <a:schemeClr val="bg2"/>
                </a:solidFill>
              </a:rPr>
              <a:t>WorkBuddy features used</a:t>
            </a:r>
            <a:endParaRPr lang="en-US" sz="1300" dirty="0"/>
          </a:p>
        </p:txBody>
      </p:sp>
      <p:sp>
        <p:nvSpPr>
          <p:cNvPr id="22" name="Feature 1"/>
          <p:cNvSpPr txBox="1"/>
          <p:nvPr/>
        </p:nvSpPr>
        <p:spPr>
          <a:xfrm>
            <a:off x="548640" y="5212080"/>
            <a:ext cx="2057400" cy="548640"/>
          </a:xfrm>
          <a:prstGeom prst="roundRect">
            <a:avLst>
              <a:gd name="adj" fmla="val 13333"/>
            </a:avLst>
          </a:prstGeom>
          <a:solidFill>
            <a:srgbClr val="1E293B"/>
          </a:solidFill>
          <a:ln w="12700">
            <a:solidFill>
              <a:srgbClr val="1E40AF"/>
            </a:solidFill>
          </a:ln>
        </p:spPr>
        <p:txBody>
          <a:bodyPr wrap="square" lIns="50800" tIns="50800" rIns="50800" bIns="50800" rtlCol="0" anchor="ctr"/>
          <a:lstStyle/>
          <a:p>
            <a:pPr algn="ctr" indent="0" marL="0">
              <a:buNone/>
            </a:pPr>
            <a:r>
              <a:rPr lang="en-US" sz="1500" b="1" dirty="0">
                <a:solidFill>
                  <a:schemeClr val="bg1"/>
                </a:solidFill>
              </a:rPr>
              <a:t>Local files</a:t>
            </a:r>
            <a:endParaRPr lang="en-US" sz="1500" dirty="0"/>
          </a:p>
        </p:txBody>
      </p:sp>
      <p:sp>
        <p:nvSpPr>
          <p:cNvPr id="23" name="Feature 2"/>
          <p:cNvSpPr txBox="1"/>
          <p:nvPr/>
        </p:nvSpPr>
        <p:spPr>
          <a:xfrm>
            <a:off x="2788920" y="5212080"/>
            <a:ext cx="2057400" cy="548640"/>
          </a:xfrm>
          <a:prstGeom prst="roundRect">
            <a:avLst>
              <a:gd name="adj" fmla="val 13333"/>
            </a:avLst>
          </a:prstGeom>
          <a:solidFill>
            <a:srgbClr val="1E293B"/>
          </a:solidFill>
          <a:ln w="12700">
            <a:solidFill>
              <a:srgbClr val="1E40AF"/>
            </a:solidFill>
          </a:ln>
        </p:spPr>
        <p:txBody>
          <a:bodyPr wrap="square" lIns="50800" tIns="50800" rIns="50800" bIns="50800" rtlCol="0" anchor="ctr"/>
          <a:lstStyle/>
          <a:p>
            <a:pPr algn="ctr" indent="0" marL="0">
              <a:buNone/>
            </a:pPr>
            <a:r>
              <a:rPr lang="en-US" sz="1500" b="1" dirty="0">
                <a:solidFill>
                  <a:schemeClr val="bg1"/>
                </a:solidFill>
              </a:rPr>
              <a:t>Web search</a:t>
            </a:r>
            <a:endParaRPr lang="en-US" sz="1500" dirty="0"/>
          </a:p>
        </p:txBody>
      </p:sp>
      <p:sp>
        <p:nvSpPr>
          <p:cNvPr id="24" name="Feature 3"/>
          <p:cNvSpPr txBox="1"/>
          <p:nvPr/>
        </p:nvSpPr>
        <p:spPr>
          <a:xfrm>
            <a:off x="5029200" y="5212080"/>
            <a:ext cx="2057400" cy="548640"/>
          </a:xfrm>
          <a:prstGeom prst="roundRect">
            <a:avLst>
              <a:gd name="adj" fmla="val 13333"/>
            </a:avLst>
          </a:prstGeom>
          <a:solidFill>
            <a:srgbClr val="1E293B"/>
          </a:solidFill>
          <a:ln w="12700">
            <a:solidFill>
              <a:srgbClr val="1E40AF"/>
            </a:solidFill>
          </a:ln>
        </p:spPr>
        <p:txBody>
          <a:bodyPr wrap="square" lIns="50800" tIns="50800" rIns="50800" bIns="50800" rtlCol="0" anchor="ctr"/>
          <a:lstStyle/>
          <a:p>
            <a:pPr algn="ctr" indent="0" marL="0">
              <a:buNone/>
            </a:pPr>
            <a:r>
              <a:rPr lang="en-US" sz="1500" b="1" dirty="0">
                <a:solidFill>
                  <a:schemeClr val="bg1"/>
                </a:solidFill>
              </a:rPr>
              <a:t>Automations</a:t>
            </a:r>
            <a:endParaRPr lang="en-US" sz="1500" dirty="0"/>
          </a:p>
        </p:txBody>
      </p:sp>
      <p:sp>
        <p:nvSpPr>
          <p:cNvPr id="25" name="Feature 4"/>
          <p:cNvSpPr txBox="1"/>
          <p:nvPr/>
        </p:nvSpPr>
        <p:spPr>
          <a:xfrm>
            <a:off x="7269480" y="5212080"/>
            <a:ext cx="2057400" cy="548640"/>
          </a:xfrm>
          <a:prstGeom prst="roundRect">
            <a:avLst>
              <a:gd name="adj" fmla="val 13333"/>
            </a:avLst>
          </a:prstGeom>
          <a:solidFill>
            <a:srgbClr val="1E293B"/>
          </a:solidFill>
          <a:ln w="12700">
            <a:solidFill>
              <a:srgbClr val="1E40AF"/>
            </a:solidFill>
          </a:ln>
        </p:spPr>
        <p:txBody>
          <a:bodyPr wrap="square" lIns="50800" tIns="50800" rIns="50800" bIns="50800" rtlCol="0" anchor="ctr"/>
          <a:lstStyle/>
          <a:p>
            <a:pPr algn="ctr" indent="0" marL="0">
              <a:buNone/>
            </a:pPr>
            <a:r>
              <a:rPr lang="en-US" sz="1500" b="1" dirty="0">
                <a:solidFill>
                  <a:schemeClr val="bg1"/>
                </a:solidFill>
              </a:rPr>
              <a:t>Telegram</a:t>
            </a:r>
            <a:endParaRPr lang="en-US" sz="1500" dirty="0"/>
          </a:p>
        </p:txBody>
      </p:sp>
      <p:sp>
        <p:nvSpPr>
          <p:cNvPr id="26" name="Feature 5"/>
          <p:cNvSpPr txBox="1"/>
          <p:nvPr/>
        </p:nvSpPr>
        <p:spPr>
          <a:xfrm>
            <a:off x="9509760" y="5212080"/>
            <a:ext cx="2057400" cy="548640"/>
          </a:xfrm>
          <a:prstGeom prst="roundRect">
            <a:avLst>
              <a:gd name="adj" fmla="val 13333"/>
            </a:avLst>
          </a:prstGeom>
          <a:solidFill>
            <a:srgbClr val="1E293B"/>
          </a:solidFill>
          <a:ln w="12700">
            <a:solidFill>
              <a:srgbClr val="1E40AF"/>
            </a:solidFill>
          </a:ln>
        </p:spPr>
        <p:txBody>
          <a:bodyPr wrap="square" lIns="50800" tIns="50800" rIns="50800" bIns="50800" rtlCol="0" anchor="ctr"/>
          <a:lstStyle/>
          <a:p>
            <a:pPr algn="ctr" indent="0" marL="0">
              <a:buNone/>
            </a:pPr>
            <a:r>
              <a:rPr lang="en-US" sz="1500" b="1" dirty="0">
                <a:solidFill>
                  <a:schemeClr val="bg1"/>
                </a:solidFill>
              </a:rPr>
              <a:t>Email</a:t>
            </a:r>
            <a:endParaRPr lang="en-US" sz="1500" dirty="0"/>
          </a:p>
        </p:txBody>
      </p:sp>
      <p:sp>
        <p:nvSpPr>
          <p:cNvPr id="25" name="Slide Number Placeholder 0"/>
          <p:cNvSpPr>
            <a:spLocks noGrp="1"/>
          </p:cNvSpPr>
          <p:nvPr>
            <p:ph type="sldNum" sz="quarter" idx="4294967295"/>
          </p:nvPr>
        </p:nvSpPr>
        <p:spPr>
          <a:xfrm>
            <a:off x="1106424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972800" cy="548640"/>
          </a:xfrm>
          <a:prstGeom prst="rect">
            <a:avLst/>
          </a:prstGeom>
          <a:noFill/>
          <a:ln/>
        </p:spPr>
        <p:txBody>
          <a:bodyPr wrap="square" lIns="0" tIns="0" rIns="0" bIns="0" rtlCol="0" anchor="t"/>
          <a:lstStyle/>
          <a:p>
            <a:pPr algn="l" indent="0" marL="0">
              <a:buNone/>
            </a:pPr>
            <a:r>
              <a:rPr lang="en-US" sz="3000" b="1" dirty="0">
                <a:solidFill>
                  <a:schemeClr val="accent1"/>
                </a:solidFill>
              </a:rPr>
              <a:t>Why It's an Agent</a:t>
            </a:r>
            <a:endParaRPr lang="en-US" sz="3000" dirty="0"/>
          </a:p>
        </p:txBody>
      </p:sp>
      <p:sp>
        <p:nvSpPr>
          <p:cNvPr id="3" name="Step 1 marker"/>
          <p:cNvSpPr/>
          <p:nvPr/>
        </p:nvSpPr>
        <p:spPr>
          <a:xfrm>
            <a:off x="548640" y="1664208"/>
            <a:ext cx="329184" cy="329184"/>
          </a:xfrm>
          <a:prstGeom prst="ellipse">
            <a:avLst/>
          </a:prstGeom>
          <a:solidFill>
            <a:srgbClr val="F59E0B"/>
          </a:solidFill>
          <a:ln/>
        </p:spPr>
      </p:sp>
      <p:sp>
        <p:nvSpPr>
          <p:cNvPr id="4" name="Step 1"/>
          <p:cNvSpPr txBox="1"/>
          <p:nvPr/>
        </p:nvSpPr>
        <p:spPr>
          <a:xfrm>
            <a:off x="1051560" y="1600200"/>
            <a:ext cx="4572000" cy="457200"/>
          </a:xfrm>
          <a:prstGeom prst="rect">
            <a:avLst/>
          </a:prstGeom>
          <a:noFill/>
          <a:ln/>
        </p:spPr>
        <p:txBody>
          <a:bodyPr wrap="square" lIns="0" tIns="0" rIns="0" bIns="0" rtlCol="0" anchor="ctr"/>
          <a:lstStyle/>
          <a:p>
            <a:pPr indent="0" marL="0">
              <a:buNone/>
            </a:pPr>
            <a:r>
              <a:rPr lang="en-US" sz="1800" b="1" dirty="0">
                <a:solidFill>
                  <a:schemeClr val="bg1"/>
                </a:solidFill>
              </a:rPr>
              <a:t>Only 2 of 3 jobs fit</a:t>
            </a:r>
            <a:endParaRPr lang="en-US" sz="1800" dirty="0"/>
          </a:p>
        </p:txBody>
      </p:sp>
      <p:sp>
        <p:nvSpPr>
          <p:cNvPr id="5" name="Step 2 marker"/>
          <p:cNvSpPr/>
          <p:nvPr/>
        </p:nvSpPr>
        <p:spPr>
          <a:xfrm>
            <a:off x="548640" y="2624328"/>
            <a:ext cx="329184" cy="329184"/>
          </a:xfrm>
          <a:prstGeom prst="ellipse">
            <a:avLst/>
          </a:prstGeom>
          <a:solidFill>
            <a:srgbClr val="3B82F6"/>
          </a:solidFill>
          <a:ln/>
        </p:spPr>
      </p:sp>
      <p:sp>
        <p:nvSpPr>
          <p:cNvPr id="6" name="Step 2"/>
          <p:cNvSpPr txBox="1"/>
          <p:nvPr/>
        </p:nvSpPr>
        <p:spPr>
          <a:xfrm>
            <a:off x="1051560" y="2560320"/>
            <a:ext cx="4572000" cy="457200"/>
          </a:xfrm>
          <a:prstGeom prst="rect">
            <a:avLst/>
          </a:prstGeom>
          <a:noFill/>
          <a:ln/>
        </p:spPr>
        <p:txBody>
          <a:bodyPr wrap="square" lIns="0" tIns="0" rIns="0" bIns="0" rtlCol="0" anchor="ctr"/>
          <a:lstStyle/>
          <a:p>
            <a:pPr indent="0" marL="0">
              <a:buNone/>
            </a:pPr>
            <a:r>
              <a:rPr lang="en-US" sz="1800" b="1" dirty="0">
                <a:solidFill>
                  <a:schemeClr val="bg1"/>
                </a:solidFill>
              </a:rPr>
              <a:t>Tests 5 ways to widen</a:t>
            </a:r>
            <a:endParaRPr lang="en-US" sz="1800" dirty="0"/>
          </a:p>
        </p:txBody>
      </p:sp>
      <p:sp>
        <p:nvSpPr>
          <p:cNvPr id="7" name="Step 3 marker"/>
          <p:cNvSpPr/>
          <p:nvPr/>
        </p:nvSpPr>
        <p:spPr>
          <a:xfrm>
            <a:off x="548640" y="3584448"/>
            <a:ext cx="329184" cy="329184"/>
          </a:xfrm>
          <a:prstGeom prst="ellipse">
            <a:avLst/>
          </a:prstGeom>
          <a:solidFill>
            <a:srgbClr val="10B981"/>
          </a:solidFill>
          <a:ln/>
        </p:spPr>
      </p:sp>
      <p:sp>
        <p:nvSpPr>
          <p:cNvPr id="8" name="Step 3"/>
          <p:cNvSpPr txBox="1"/>
          <p:nvPr/>
        </p:nvSpPr>
        <p:spPr>
          <a:xfrm>
            <a:off x="1051560" y="3520440"/>
            <a:ext cx="4572000" cy="457200"/>
          </a:xfrm>
          <a:prstGeom prst="rect">
            <a:avLst/>
          </a:prstGeom>
          <a:noFill/>
          <a:ln/>
        </p:spPr>
        <p:txBody>
          <a:bodyPr wrap="square" lIns="0" tIns="0" rIns="0" bIns="0" rtlCol="0" anchor="ctr"/>
          <a:lstStyle/>
          <a:p>
            <a:pPr indent="0" marL="0">
              <a:buNone/>
            </a:pPr>
            <a:r>
              <a:rPr lang="en-US" sz="1800" b="1" dirty="0">
                <a:solidFill>
                  <a:schemeClr val="bg1"/>
                </a:solidFill>
              </a:rPr>
              <a:t>None helps: stops, no padding</a:t>
            </a:r>
            <a:endParaRPr lang="en-US" sz="1800" dirty="0"/>
          </a:p>
        </p:txBody>
      </p:sp>
      <p:sp>
        <p:nvSpPr>
          <p:cNvPr id="9" name="Step 4 marker"/>
          <p:cNvSpPr/>
          <p:nvPr/>
        </p:nvSpPr>
        <p:spPr>
          <a:xfrm>
            <a:off x="548640" y="4544568"/>
            <a:ext cx="329184" cy="329184"/>
          </a:xfrm>
          <a:prstGeom prst="ellipse">
            <a:avLst/>
          </a:prstGeom>
          <a:solidFill>
            <a:srgbClr val="EF4444"/>
          </a:solidFill>
          <a:ln/>
        </p:spPr>
      </p:sp>
      <p:sp>
        <p:nvSpPr>
          <p:cNvPr id="10" name="Step 4"/>
          <p:cNvSpPr txBox="1"/>
          <p:nvPr/>
        </p:nvSpPr>
        <p:spPr>
          <a:xfrm>
            <a:off x="1051560" y="4480560"/>
            <a:ext cx="4572000" cy="457200"/>
          </a:xfrm>
          <a:prstGeom prst="rect">
            <a:avLst/>
          </a:prstGeom>
          <a:noFill/>
          <a:ln/>
        </p:spPr>
        <p:txBody>
          <a:bodyPr wrap="square" lIns="0" tIns="0" rIns="0" bIns="0" rtlCol="0" anchor="ctr"/>
          <a:lstStyle/>
          <a:p>
            <a:pPr indent="0" marL="0">
              <a:buNone/>
            </a:pPr>
            <a:r>
              <a:rPr lang="en-US" sz="1800" b="1" dirty="0">
                <a:solidFill>
                  <a:schemeClr val="bg1"/>
                </a:solidFill>
              </a:rPr>
              <a:t>Lower her pay? Asks first</a:t>
            </a:r>
            <a:endParaRPr lang="en-US" sz="1800" dirty="0"/>
          </a:p>
        </p:txBody>
      </p:sp>
      <p:sp>
        <p:nvSpPr>
          <p:cNvPr id="11" name="Loop Goal"/>
          <p:cNvSpPr txBox="1"/>
          <p:nvPr/>
        </p:nvSpPr>
        <p:spPr>
          <a:xfrm>
            <a:off x="6172200" y="2011680"/>
            <a:ext cx="960120" cy="640080"/>
          </a:xfrm>
          <a:prstGeom prst="roundRect">
            <a:avLst>
              <a:gd name="adj" fmla="val 11429"/>
            </a:avLst>
          </a:prstGeom>
          <a:solidFill>
            <a:srgbClr val="3B82F6"/>
          </a:solidFill>
          <a:ln/>
        </p:spPr>
        <p:txBody>
          <a:bodyPr wrap="square" lIns="50800" tIns="50800" rIns="50800" bIns="50800" rtlCol="0" anchor="ctr"/>
          <a:lstStyle/>
          <a:p>
            <a:pPr algn="ctr" indent="0" marL="0">
              <a:buNone/>
            </a:pPr>
            <a:r>
              <a:rPr lang="en-US" sz="1400" b="1" dirty="0">
                <a:solidFill>
                  <a:schemeClr val="bg1"/>
                </a:solidFill>
              </a:rPr>
              <a:t>Goal</a:t>
            </a:r>
            <a:endParaRPr lang="en-US" sz="1400" dirty="0"/>
          </a:p>
        </p:txBody>
      </p:sp>
      <p:sp>
        <p:nvSpPr>
          <p:cNvPr id="12" name="Loop arrow 1"/>
          <p:cNvSpPr/>
          <p:nvPr/>
        </p:nvSpPr>
        <p:spPr>
          <a:xfrm>
            <a:off x="7132320" y="2331720"/>
            <a:ext cx="182880" cy="0"/>
          </a:xfrm>
          <a:prstGeom prst="line">
            <a:avLst/>
          </a:prstGeom>
          <a:noFill/>
          <a:ln w="25400">
            <a:solidFill>
              <a:schemeClr val="accent5"/>
            </a:solidFill>
            <a:prstDash val="solid"/>
            <a:tailEnd type="triangle"/>
          </a:ln>
        </p:spPr>
      </p:sp>
      <p:sp>
        <p:nvSpPr>
          <p:cNvPr id="13" name="Loop Plan"/>
          <p:cNvSpPr txBox="1"/>
          <p:nvPr/>
        </p:nvSpPr>
        <p:spPr>
          <a:xfrm>
            <a:off x="7315200" y="2011680"/>
            <a:ext cx="960120" cy="640080"/>
          </a:xfrm>
          <a:prstGeom prst="roundRect">
            <a:avLst>
              <a:gd name="adj" fmla="val 11429"/>
            </a:avLst>
          </a:prstGeom>
          <a:solidFill>
            <a:srgbClr val="3B82F6"/>
          </a:solidFill>
          <a:ln/>
        </p:spPr>
        <p:txBody>
          <a:bodyPr wrap="square" lIns="50800" tIns="50800" rIns="50800" bIns="50800" rtlCol="0" anchor="ctr"/>
          <a:lstStyle/>
          <a:p>
            <a:pPr algn="ctr" indent="0" marL="0">
              <a:buNone/>
            </a:pPr>
            <a:r>
              <a:rPr lang="en-US" sz="1400" b="1" dirty="0">
                <a:solidFill>
                  <a:schemeClr val="bg1"/>
                </a:solidFill>
              </a:rPr>
              <a:t>Plan</a:t>
            </a:r>
            <a:endParaRPr lang="en-US" sz="1400" dirty="0"/>
          </a:p>
        </p:txBody>
      </p:sp>
      <p:sp>
        <p:nvSpPr>
          <p:cNvPr id="14" name="Loop arrow 2"/>
          <p:cNvSpPr/>
          <p:nvPr/>
        </p:nvSpPr>
        <p:spPr>
          <a:xfrm>
            <a:off x="8275320" y="2331720"/>
            <a:ext cx="182880" cy="0"/>
          </a:xfrm>
          <a:prstGeom prst="line">
            <a:avLst/>
          </a:prstGeom>
          <a:noFill/>
          <a:ln w="25400">
            <a:solidFill>
              <a:schemeClr val="accent5"/>
            </a:solidFill>
            <a:prstDash val="solid"/>
            <a:tailEnd type="triangle"/>
          </a:ln>
        </p:spPr>
      </p:sp>
      <p:sp>
        <p:nvSpPr>
          <p:cNvPr id="15" name="Loop Tools"/>
          <p:cNvSpPr txBox="1"/>
          <p:nvPr/>
        </p:nvSpPr>
        <p:spPr>
          <a:xfrm>
            <a:off x="8458200" y="2011680"/>
            <a:ext cx="960120" cy="640080"/>
          </a:xfrm>
          <a:prstGeom prst="roundRect">
            <a:avLst>
              <a:gd name="adj" fmla="val 11429"/>
            </a:avLst>
          </a:prstGeom>
          <a:solidFill>
            <a:srgbClr val="3B82F6"/>
          </a:solidFill>
          <a:ln/>
        </p:spPr>
        <p:txBody>
          <a:bodyPr wrap="square" lIns="50800" tIns="50800" rIns="50800" bIns="50800" rtlCol="0" anchor="ctr"/>
          <a:lstStyle/>
          <a:p>
            <a:pPr algn="ctr" indent="0" marL="0">
              <a:buNone/>
            </a:pPr>
            <a:r>
              <a:rPr lang="en-US" sz="1400" b="1" dirty="0">
                <a:solidFill>
                  <a:schemeClr val="bg1"/>
                </a:solidFill>
              </a:rPr>
              <a:t>Tools</a:t>
            </a:r>
            <a:endParaRPr lang="en-US" sz="1400" dirty="0"/>
          </a:p>
        </p:txBody>
      </p:sp>
      <p:sp>
        <p:nvSpPr>
          <p:cNvPr id="16" name="Loop arrow 3"/>
          <p:cNvSpPr/>
          <p:nvPr/>
        </p:nvSpPr>
        <p:spPr>
          <a:xfrm>
            <a:off x="9418320" y="2331720"/>
            <a:ext cx="182880" cy="0"/>
          </a:xfrm>
          <a:prstGeom prst="line">
            <a:avLst/>
          </a:prstGeom>
          <a:noFill/>
          <a:ln w="25400">
            <a:solidFill>
              <a:schemeClr val="accent5"/>
            </a:solidFill>
            <a:prstDash val="solid"/>
            <a:tailEnd type="triangle"/>
          </a:ln>
        </p:spPr>
      </p:sp>
      <p:sp>
        <p:nvSpPr>
          <p:cNvPr id="17" name="Loop Verify"/>
          <p:cNvSpPr txBox="1"/>
          <p:nvPr/>
        </p:nvSpPr>
        <p:spPr>
          <a:xfrm>
            <a:off x="9601200" y="2011680"/>
            <a:ext cx="960120" cy="640080"/>
          </a:xfrm>
          <a:prstGeom prst="roundRect">
            <a:avLst>
              <a:gd name="adj" fmla="val 11429"/>
            </a:avLst>
          </a:prstGeom>
          <a:solidFill>
            <a:srgbClr val="10B981"/>
          </a:solidFill>
          <a:ln/>
        </p:spPr>
        <p:txBody>
          <a:bodyPr wrap="square" lIns="50800" tIns="50800" rIns="50800" bIns="50800" rtlCol="0" anchor="ctr"/>
          <a:lstStyle/>
          <a:p>
            <a:pPr algn="ctr" indent="0" marL="0">
              <a:buNone/>
            </a:pPr>
            <a:r>
              <a:rPr lang="en-US" sz="1400" b="1" dirty="0">
                <a:solidFill>
                  <a:schemeClr val="bg1"/>
                </a:solidFill>
              </a:rPr>
              <a:t>Verify</a:t>
            </a:r>
            <a:endParaRPr lang="en-US" sz="1400" dirty="0"/>
          </a:p>
        </p:txBody>
      </p:sp>
      <p:sp>
        <p:nvSpPr>
          <p:cNvPr id="18" name="Loop arrow 4"/>
          <p:cNvSpPr/>
          <p:nvPr/>
        </p:nvSpPr>
        <p:spPr>
          <a:xfrm>
            <a:off x="10561320" y="2331720"/>
            <a:ext cx="182880" cy="0"/>
          </a:xfrm>
          <a:prstGeom prst="line">
            <a:avLst/>
          </a:prstGeom>
          <a:noFill/>
          <a:ln w="25400">
            <a:solidFill>
              <a:schemeClr val="accent5"/>
            </a:solidFill>
            <a:prstDash val="solid"/>
            <a:tailEnd type="triangle"/>
          </a:ln>
        </p:spPr>
      </p:sp>
      <p:sp>
        <p:nvSpPr>
          <p:cNvPr id="19" name="Loop Deliver"/>
          <p:cNvSpPr txBox="1"/>
          <p:nvPr/>
        </p:nvSpPr>
        <p:spPr>
          <a:xfrm>
            <a:off x="10744200" y="2011680"/>
            <a:ext cx="960120" cy="640080"/>
          </a:xfrm>
          <a:prstGeom prst="roundRect">
            <a:avLst>
              <a:gd name="adj" fmla="val 11429"/>
            </a:avLst>
          </a:prstGeom>
          <a:solidFill>
            <a:srgbClr val="3B82F6"/>
          </a:solidFill>
          <a:ln/>
        </p:spPr>
        <p:txBody>
          <a:bodyPr wrap="square" lIns="50800" tIns="50800" rIns="50800" bIns="50800" rtlCol="0" anchor="ctr"/>
          <a:lstStyle/>
          <a:p>
            <a:pPr algn="ctr" indent="0" marL="0">
              <a:buNone/>
            </a:pPr>
            <a:r>
              <a:rPr lang="en-US" sz="1400" b="1" dirty="0">
                <a:solidFill>
                  <a:schemeClr val="bg1"/>
                </a:solidFill>
              </a:rPr>
              <a:t>Deliver</a:t>
            </a:r>
            <a:endParaRPr lang="en-US" sz="1400" dirty="0"/>
          </a:p>
        </p:txBody>
      </p:sp>
      <p:sp>
        <p:nvSpPr>
          <p:cNvPr id="20" name="Loop Fix"/>
          <p:cNvSpPr txBox="1"/>
          <p:nvPr/>
        </p:nvSpPr>
        <p:spPr>
          <a:xfrm>
            <a:off x="8595360" y="3429000"/>
            <a:ext cx="960120" cy="640080"/>
          </a:xfrm>
          <a:prstGeom prst="roundRect">
            <a:avLst>
              <a:gd name="adj" fmla="val 11429"/>
            </a:avLst>
          </a:prstGeom>
          <a:solidFill>
            <a:srgbClr val="1E40AF"/>
          </a:solidFill>
          <a:ln/>
        </p:spPr>
        <p:txBody>
          <a:bodyPr wrap="square" lIns="50800" tIns="50800" rIns="50800" bIns="50800" rtlCol="0" anchor="ctr"/>
          <a:lstStyle/>
          <a:p>
            <a:pPr algn="ctr" indent="0" marL="0">
              <a:buNone/>
            </a:pPr>
            <a:r>
              <a:rPr lang="en-US" sz="1400" b="1" dirty="0">
                <a:solidFill>
                  <a:schemeClr val="bg1"/>
                </a:solidFill>
              </a:rPr>
              <a:t>Fix</a:t>
            </a:r>
            <a:endParaRPr lang="en-US" sz="1400" dirty="0"/>
          </a:p>
        </p:txBody>
      </p:sp>
      <p:sp>
        <p:nvSpPr>
          <p:cNvPr id="21" name="Problems arrow"/>
          <p:cNvSpPr/>
          <p:nvPr/>
        </p:nvSpPr>
        <p:spPr>
          <a:xfrm flipH="1">
            <a:off x="9555480" y="2651760"/>
            <a:ext cx="320040" cy="777240"/>
          </a:xfrm>
          <a:prstGeom prst="line">
            <a:avLst/>
          </a:prstGeom>
          <a:noFill/>
          <a:ln w="25400">
            <a:solidFill>
              <a:srgbClr val="10B981"/>
            </a:solidFill>
            <a:prstDash val="dash"/>
            <a:tailEnd type="triangle"/>
          </a:ln>
        </p:spPr>
      </p:sp>
      <p:sp>
        <p:nvSpPr>
          <p:cNvPr id="22" name="Retry arrow"/>
          <p:cNvSpPr/>
          <p:nvPr/>
        </p:nvSpPr>
        <p:spPr>
          <a:xfrm flipH="1" flipV="1">
            <a:off x="9006840" y="2651760"/>
            <a:ext cx="320040" cy="777240"/>
          </a:xfrm>
          <a:prstGeom prst="line">
            <a:avLst/>
          </a:prstGeom>
          <a:noFill/>
          <a:ln w="25400">
            <a:solidFill>
              <a:srgbClr val="10B981"/>
            </a:solidFill>
            <a:prstDash val="dash"/>
            <a:tailEnd type="triangle"/>
          </a:ln>
        </p:spPr>
      </p:sp>
      <p:sp>
        <p:nvSpPr>
          <p:cNvPr id="23" name="Problems label"/>
          <p:cNvSpPr txBox="1"/>
          <p:nvPr/>
        </p:nvSpPr>
        <p:spPr>
          <a:xfrm>
            <a:off x="9921240" y="2971800"/>
            <a:ext cx="1097280" cy="274320"/>
          </a:xfrm>
          <a:prstGeom prst="rect">
            <a:avLst/>
          </a:prstGeom>
          <a:noFill/>
          <a:ln/>
        </p:spPr>
        <p:txBody>
          <a:bodyPr wrap="square" lIns="0" tIns="0" rIns="0" bIns="0" rtlCol="0" anchor="ctr"/>
          <a:lstStyle/>
          <a:p>
            <a:pPr indent="0" marL="0">
              <a:buNone/>
            </a:pPr>
            <a:r>
              <a:rPr lang="en-US" sz="1100" dirty="0">
                <a:solidFill>
                  <a:schemeClr val="accent2"/>
                </a:solidFill>
              </a:rPr>
              <a:t>problems</a:t>
            </a:r>
            <a:endParaRPr lang="en-US" sz="1100" dirty="0"/>
          </a:p>
        </p:txBody>
      </p:sp>
      <p:sp>
        <p:nvSpPr>
          <p:cNvPr id="24" name="Retry label"/>
          <p:cNvSpPr txBox="1"/>
          <p:nvPr/>
        </p:nvSpPr>
        <p:spPr>
          <a:xfrm>
            <a:off x="7772400" y="2971800"/>
            <a:ext cx="731520" cy="274320"/>
          </a:xfrm>
          <a:prstGeom prst="rect">
            <a:avLst/>
          </a:prstGeom>
          <a:noFill/>
          <a:ln/>
        </p:spPr>
        <p:txBody>
          <a:bodyPr wrap="square" lIns="0" tIns="0" rIns="0" bIns="0" rtlCol="0" anchor="ctr"/>
          <a:lstStyle/>
          <a:p>
            <a:pPr algn="r" indent="0" marL="0">
              <a:buNone/>
            </a:pPr>
            <a:r>
              <a:rPr lang="en-US" sz="1100" dirty="0">
                <a:solidFill>
                  <a:schemeClr val="accent2"/>
                </a:solidFill>
              </a:rPr>
              <a:t>retry</a:t>
            </a:r>
            <a:endParaRPr lang="en-US" sz="1100" dirty="0"/>
          </a:p>
        </p:txBody>
      </p:sp>
      <p:sp>
        <p:nvSpPr>
          <p:cNvPr id="25" name="Loop note"/>
          <p:cNvSpPr txBox="1"/>
          <p:nvPr/>
        </p:nvSpPr>
        <p:spPr>
          <a:xfrm>
            <a:off x="6172200" y="4480560"/>
            <a:ext cx="5257800" cy="457200"/>
          </a:xfrm>
          <a:prstGeom prst="rect">
            <a:avLst/>
          </a:prstGeom>
          <a:noFill/>
          <a:ln/>
        </p:spPr>
        <p:txBody>
          <a:bodyPr wrap="square" lIns="0" tIns="0" rIns="0" bIns="0" rtlCol="0" anchor="ctr"/>
          <a:lstStyle/>
          <a:p>
            <a:pPr indent="0" marL="0">
              <a:buNone/>
            </a:pPr>
            <a:r>
              <a:rPr lang="en-US" sz="1800" b="1" dirty="0">
                <a:solidFill>
                  <a:schemeClr val="accent1"/>
                </a:solidFill>
              </a:rPr>
              <a:t>Can't finish until verified.</a:t>
            </a:r>
            <a:endParaRPr lang="en-US" sz="1800" dirty="0"/>
          </a:p>
        </p:txBody>
      </p:sp>
      <p:sp>
        <p:nvSpPr>
          <p:cNvPr id="25" name="Slide Number Placeholder 0"/>
          <p:cNvSpPr>
            <a:spLocks noGrp="1"/>
          </p:cNvSpPr>
          <p:nvPr>
            <p:ph type="sldNum" sz="quarter" idx="4294967295"/>
          </p:nvPr>
        </p:nvSpPr>
        <p:spPr>
          <a:xfrm>
            <a:off x="1106424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972800" cy="548640"/>
          </a:xfrm>
          <a:prstGeom prst="rect">
            <a:avLst/>
          </a:prstGeom>
          <a:noFill/>
          <a:ln/>
        </p:spPr>
        <p:txBody>
          <a:bodyPr wrap="square" lIns="0" tIns="0" rIns="0" bIns="0" rtlCol="0" anchor="t"/>
          <a:lstStyle/>
          <a:p>
            <a:pPr algn="l" indent="0" marL="0">
              <a:buNone/>
            </a:pPr>
            <a:r>
              <a:rPr lang="en-US" sz="3000" b="1" dirty="0">
                <a:solidFill>
                  <a:schemeClr val="accent1"/>
                </a:solidFill>
              </a:rPr>
              <a:t>Proof</a:t>
            </a:r>
            <a:endParaRPr lang="en-US" sz="3000" dirty="0"/>
          </a:p>
        </p:txBody>
      </p:sp>
      <p:pic>
        <p:nvPicPr>
          <p:cNvPr id="3" name="Seeker result screenshot" descr="HireBuddy result for Nadia: 2 suitable jobs with match scores, checked and verified, 2 of 2 checks passed">    </p:cNvPr>
          <p:cNvPicPr>
            <a:picLocks noChangeAspect="1"/>
          </p:cNvPicPr>
          <p:nvPr/>
        </p:nvPicPr>
        <p:blipFill>
          <a:blip r:embed="rId1"/>
          <a:stretch>
            <a:fillRect/>
          </a:stretch>
        </p:blipFill>
        <p:spPr>
          <a:xfrm>
            <a:off x="4178808" y="1188720"/>
            <a:ext cx="3831336" cy="4800600"/>
          </a:xfrm>
          <a:prstGeom prst="rect">
            <a:avLst/>
          </a:prstGeom>
        </p:spPr>
      </p:pic>
      <p:sp>
        <p:nvSpPr>
          <p:cNvPr id="25" name="Slide Number Placeholder 0"/>
          <p:cNvSpPr>
            <a:spLocks noGrp="1"/>
          </p:cNvSpPr>
          <p:nvPr>
            <p:ph type="sldNum" sz="quarter" idx="4294967295"/>
          </p:nvPr>
        </p:nvSpPr>
        <p:spPr>
          <a:xfrm>
            <a:off x="1106424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972800" cy="548640"/>
          </a:xfrm>
          <a:prstGeom prst="rect">
            <a:avLst/>
          </a:prstGeom>
          <a:noFill/>
          <a:ln/>
        </p:spPr>
        <p:txBody>
          <a:bodyPr wrap="square" lIns="0" tIns="0" rIns="0" bIns="0" rtlCol="0" anchor="t"/>
          <a:lstStyle/>
          <a:p>
            <a:pPr algn="l" indent="0" marL="0">
              <a:buNone/>
            </a:pPr>
            <a:r>
              <a:rPr lang="en-US" sz="3000" b="1" dirty="0">
                <a:solidFill>
                  <a:schemeClr val="accent1"/>
                </a:solidFill>
              </a:rPr>
              <a:t>Try It: One Sentence</a:t>
            </a:r>
            <a:endParaRPr lang="en-US" sz="3000" dirty="0"/>
          </a:p>
        </p:txBody>
      </p:sp>
      <p:sp>
        <p:nvSpPr>
          <p:cNvPr id="3" name="QR card 1"/>
          <p:cNvSpPr/>
          <p:nvPr/>
        </p:nvSpPr>
        <p:spPr>
          <a:xfrm>
            <a:off x="1737360" y="1280160"/>
            <a:ext cx="3931920" cy="4023360"/>
          </a:xfrm>
          <a:prstGeom prst="roundRect">
            <a:avLst>
              <a:gd name="adj" fmla="val 2326"/>
            </a:avLst>
          </a:prstGeom>
          <a:solidFill>
            <a:srgbClr val="1E293B"/>
          </a:solidFill>
          <a:ln/>
        </p:spPr>
      </p:sp>
      <p:pic>
        <p:nvPicPr>
          <p:cNvPr id="4" name="QR 1" descr="QR code for hirebuddy-k543.onrender.com">    </p:cNvPr>
          <p:cNvPicPr>
            <a:picLocks noChangeAspect="1"/>
          </p:cNvPicPr>
          <p:nvPr/>
        </p:nvPicPr>
        <p:blipFill>
          <a:blip r:embed="rId1"/>
          <a:stretch>
            <a:fillRect/>
          </a:stretch>
        </p:blipFill>
        <p:spPr>
          <a:xfrm>
            <a:off x="2468880" y="1554480"/>
            <a:ext cx="2468880" cy="2468880"/>
          </a:xfrm>
          <a:prstGeom prst="rect">
            <a:avLst/>
          </a:prstGeom>
        </p:spPr>
      </p:pic>
      <p:sp>
        <p:nvSpPr>
          <p:cNvPr id="5" name="QR 1 heading"/>
          <p:cNvSpPr txBox="1"/>
          <p:nvPr/>
        </p:nvSpPr>
        <p:spPr>
          <a:xfrm>
            <a:off x="1920240" y="4206240"/>
            <a:ext cx="3566160" cy="411480"/>
          </a:xfrm>
          <a:prstGeom prst="rect">
            <a:avLst/>
          </a:prstGeom>
          <a:noFill/>
          <a:ln/>
        </p:spPr>
        <p:txBody>
          <a:bodyPr wrap="square" lIns="0" tIns="0" rIns="0" bIns="0" rtlCol="0" anchor="ctr"/>
          <a:lstStyle/>
          <a:p>
            <a:pPr algn="ctr" indent="0" marL="0">
              <a:buNone/>
            </a:pPr>
            <a:r>
              <a:rPr lang="en-US" sz="1800" b="1" dirty="0">
                <a:solidFill>
                  <a:schemeClr val="bg1"/>
                </a:solidFill>
              </a:rPr>
              <a:t>Live app</a:t>
            </a:r>
            <a:endParaRPr lang="en-US" sz="1800" dirty="0"/>
          </a:p>
        </p:txBody>
      </p:sp>
      <p:sp>
        <p:nvSpPr>
          <p:cNvPr id="6" name="QR 1 link"/>
          <p:cNvSpPr txBox="1"/>
          <p:nvPr/>
        </p:nvSpPr>
        <p:spPr>
          <a:xfrm>
            <a:off x="1920240" y="4663440"/>
            <a:ext cx="3566160" cy="365760"/>
          </a:xfrm>
          <a:prstGeom prst="rect">
            <a:avLst/>
          </a:prstGeom>
          <a:noFill/>
          <a:ln/>
        </p:spPr>
        <p:txBody>
          <a:bodyPr wrap="square" lIns="0" tIns="0" rIns="0" bIns="0" rtlCol="0" anchor="ctr"/>
          <a:lstStyle/>
          <a:p>
            <a:pPr algn="ctr" indent="0" marL="0">
              <a:buNone/>
            </a:pPr>
            <a:r>
              <a:rPr lang="en-US" sz="14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hirebuddy-k543.onrender.com</a:t>
            </a:r>
            <a:endParaRPr lang="en-US" sz="1400" dirty="0"/>
          </a:p>
        </p:txBody>
      </p:sp>
      <p:sp>
        <p:nvSpPr>
          <p:cNvPr id="7" name="QR card 2"/>
          <p:cNvSpPr/>
          <p:nvPr/>
        </p:nvSpPr>
        <p:spPr>
          <a:xfrm>
            <a:off x="6492240" y="1280160"/>
            <a:ext cx="3931920" cy="4023360"/>
          </a:xfrm>
          <a:prstGeom prst="roundRect">
            <a:avLst>
              <a:gd name="adj" fmla="val 2326"/>
            </a:avLst>
          </a:prstGeom>
          <a:solidFill>
            <a:srgbClr val="1E293B"/>
          </a:solidFill>
          <a:ln/>
        </p:spPr>
      </p:sp>
      <p:pic>
        <p:nvPicPr>
          <p:cNvPr id="8" name="QR 2" descr="QR code for github.com/Josan88/job-buddy">    </p:cNvPr>
          <p:cNvPicPr>
            <a:picLocks noChangeAspect="1"/>
          </p:cNvPicPr>
          <p:nvPr/>
        </p:nvPicPr>
        <p:blipFill>
          <a:blip r:embed="rId3"/>
          <a:stretch>
            <a:fillRect/>
          </a:stretch>
        </p:blipFill>
        <p:spPr>
          <a:xfrm>
            <a:off x="7223760" y="1554480"/>
            <a:ext cx="2468880" cy="2468880"/>
          </a:xfrm>
          <a:prstGeom prst="rect">
            <a:avLst/>
          </a:prstGeom>
        </p:spPr>
      </p:pic>
      <p:sp>
        <p:nvSpPr>
          <p:cNvPr id="9" name="QR 2 heading"/>
          <p:cNvSpPr txBox="1"/>
          <p:nvPr/>
        </p:nvSpPr>
        <p:spPr>
          <a:xfrm>
            <a:off x="6675120" y="4206240"/>
            <a:ext cx="3566160" cy="411480"/>
          </a:xfrm>
          <a:prstGeom prst="rect">
            <a:avLst/>
          </a:prstGeom>
          <a:noFill/>
          <a:ln/>
        </p:spPr>
        <p:txBody>
          <a:bodyPr wrap="square" lIns="0" tIns="0" rIns="0" bIns="0" rtlCol="0" anchor="ctr"/>
          <a:lstStyle/>
          <a:p>
            <a:pPr algn="ctr" indent="0" marL="0">
              <a:buNone/>
            </a:pPr>
            <a:r>
              <a:rPr lang="en-US" sz="1800" b="1" dirty="0">
                <a:solidFill>
                  <a:schemeClr val="bg1"/>
                </a:solidFill>
              </a:rPr>
              <a:t>Code + WorkBuddy setup</a:t>
            </a:r>
            <a:endParaRPr lang="en-US" sz="1800" dirty="0"/>
          </a:p>
        </p:txBody>
      </p:sp>
      <p:sp>
        <p:nvSpPr>
          <p:cNvPr id="10" name="QR 2 link"/>
          <p:cNvSpPr txBox="1"/>
          <p:nvPr/>
        </p:nvSpPr>
        <p:spPr>
          <a:xfrm>
            <a:off x="6675120" y="4663440"/>
            <a:ext cx="3566160" cy="365760"/>
          </a:xfrm>
          <a:prstGeom prst="rect">
            <a:avLst/>
          </a:prstGeom>
          <a:noFill/>
          <a:ln/>
        </p:spPr>
        <p:txBody>
          <a:bodyPr wrap="square" lIns="0" tIns="0" rIns="0" bIns="0" rtlCol="0" anchor="ctr"/>
          <a:lstStyle/>
          <a:p>
            <a:pPr algn="ctr" indent="0" marL="0">
              <a:buNone/>
            </a:pPr>
            <a:r>
              <a:rPr lang="en-US" sz="14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github.com/Josan88/job-buddy</a:t>
            </a:r>
            <a:endParaRPr lang="en-US" sz="1400" dirty="0"/>
          </a:p>
        </p:txBody>
      </p:sp>
      <p:sp>
        <p:nvSpPr>
          <p:cNvPr id="11" name="Hint"/>
          <p:cNvSpPr txBox="1"/>
          <p:nvPr/>
        </p:nvSpPr>
        <p:spPr>
          <a:xfrm>
            <a:off x="548640" y="5532120"/>
            <a:ext cx="11064240" cy="365760"/>
          </a:xfrm>
          <a:prstGeom prst="rect">
            <a:avLst/>
          </a:prstGeom>
          <a:noFill/>
          <a:ln/>
        </p:spPr>
        <p:txBody>
          <a:bodyPr wrap="square" lIns="0" tIns="0" rIns="0" bIns="0" rtlCol="0" anchor="ctr"/>
          <a:lstStyle/>
          <a:p>
            <a:pPr algn="ctr" indent="0" marL="0">
              <a:buNone/>
            </a:pPr>
            <a:r>
              <a:rPr lang="en-US" sz="1400" dirty="0">
                <a:solidFill>
                  <a:schemeClr val="bg2"/>
                </a:solidFill>
              </a:rPr>
              <a:t>Paste Nadia's sentence, or write your own.</a:t>
            </a:r>
            <a:endParaRPr lang="en-US" sz="1400" dirty="0"/>
          </a:p>
        </p:txBody>
      </p:sp>
      <p:sp>
        <p:nvSpPr>
          <p:cNvPr id="25" name="Slide Number Placeholder 0"/>
          <p:cNvSpPr>
            <a:spLocks noGrp="1"/>
          </p:cNvSpPr>
          <p:nvPr>
            <p:ph type="sldNum" sz="quarter" idx="4294967295"/>
          </p:nvPr>
        </p:nvSpPr>
        <p:spPr>
          <a:xfrm>
            <a:off x="1106424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972800" cy="548640"/>
          </a:xfrm>
          <a:prstGeom prst="rect">
            <a:avLst/>
          </a:prstGeom>
          <a:noFill/>
          <a:ln/>
        </p:spPr>
        <p:txBody>
          <a:bodyPr wrap="square" lIns="0" tIns="0" rIns="0" bIns="0" rtlCol="0" anchor="t"/>
          <a:lstStyle/>
          <a:p>
            <a:pPr algn="l" indent="0" marL="0">
              <a:buNone/>
            </a:pPr>
            <a:r>
              <a:rPr lang="en-US" sz="3000" b="1" dirty="0">
                <a:solidFill>
                  <a:schemeClr val="accent1"/>
                </a:solidFill>
              </a:rPr>
              <a:t>Backup: Real WorkBuddy Run</a:t>
            </a:r>
            <a:endParaRPr lang="en-US" sz="3000" dirty="0"/>
          </a:p>
        </p:txBody>
      </p:sp>
      <p:pic>
        <p:nvPicPr>
          <p:cNvPr id="3" name="WorkBuddy result screenshot" descr="HireBuddy run driven by WorkBuddy: Nur Aqilah, low vision, remote only. Checked and verified, 1 suitable job, Bahasa Melayu Content Writer, 88 out of 100">    </p:cNvPr>
          <p:cNvPicPr>
            <a:picLocks noChangeAspect="1"/>
          </p:cNvPicPr>
          <p:nvPr/>
        </p:nvPicPr>
        <p:blipFill>
          <a:blip r:embed="rId1"/>
          <a:stretch>
            <a:fillRect/>
          </a:stretch>
        </p:blipFill>
        <p:spPr>
          <a:xfrm>
            <a:off x="548640" y="1188720"/>
            <a:ext cx="5404104" cy="4242816"/>
          </a:xfrm>
          <a:prstGeom prst="rect">
            <a:avLst/>
          </a:prstGeom>
        </p:spPr>
      </p:pic>
      <p:pic>
        <p:nvPicPr>
          <p:cNvPr id="4" name="Job-site listings screenshot" descr="Jobs WorkBuddy found on other sites, each scored, rejected with a reason: not remote">    </p:cNvPr>
          <p:cNvPicPr>
            <a:picLocks noChangeAspect="1"/>
          </p:cNvPicPr>
          <p:nvPr/>
        </p:nvPicPr>
        <p:blipFill>
          <a:blip r:embed="rId2"/>
          <a:stretch>
            <a:fillRect/>
          </a:stretch>
        </p:blipFill>
        <p:spPr>
          <a:xfrm>
            <a:off x="6355080" y="1188720"/>
            <a:ext cx="4864608" cy="4754880"/>
          </a:xfrm>
          <a:prstGeom prst="rect">
            <a:avLst/>
          </a:prstGeom>
        </p:spPr>
      </p:pic>
      <p:sp>
        <p:nvSpPr>
          <p:cNvPr id="25" name="Slide Number Placeholder 0"/>
          <p:cNvSpPr>
            <a:spLocks noGrp="1"/>
          </p:cNvSpPr>
          <p:nvPr>
            <p:ph type="sldNum" sz="quarter" idx="4294967295"/>
          </p:nvPr>
        </p:nvSpPr>
        <p:spPr>
          <a:xfrm>
            <a:off x="11064240" y="635508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HireBuddy Night">
  <a:themeElements>
    <a:clrScheme name="HireBuddy Night">
      <a:dk1>
        <a:srgbClr val="0F172A"/>
      </a:dk1>
      <a:lt1>
        <a:srgbClr val="F1F5F9"/>
      </a:lt1>
      <a:dk2>
        <a:srgbClr val="1E293B"/>
      </a:dk2>
      <a:lt2>
        <a:srgbClr val="94A3B8"/>
      </a:lt2>
      <a:accent1>
        <a:srgbClr val="3B82F6"/>
      </a:accent1>
      <a:accent2>
        <a:srgbClr val="10B981"/>
      </a:accent2>
      <a:accent3>
        <a:srgbClr val="1E40AF"/>
      </a:accent3>
      <a:accent4>
        <a:srgbClr val="F59E0B"/>
      </a:accent4>
      <a:accent5>
        <a:srgbClr val="475569"/>
      </a:accent5>
      <a:accent6>
        <a:srgbClr val="EF4444"/>
      </a:accent6>
      <a:hlink>
        <a:srgbClr val="60A5FA"/>
      </a:hlink>
      <a:folHlink>
        <a:srgbClr val="93C5FD"/>
      </a:folHlink>
    </a:clrScheme>
    <a:fontScheme name="HireBuddy Night">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HireBuddy pitch</dc:title>
  <dc:subject>PptxGenJS Presentation</dc:subject>
  <dc:creator>PptxGenJS</dc:creator>
  <cp:lastModifiedBy>PptxGenJS</cp:lastModifiedBy>
  <cp:revision>1</cp:revision>
  <dcterms:created xsi:type="dcterms:W3CDTF">2026-10-11T03:22:54Z</dcterms:created>
  <dcterms:modified xsi:type="dcterms:W3CDTF">2026-10-11T03:22:54Z</dcterms:modified>
</cp:coreProperties>
</file>