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14e4025f-abad-a43f-85d5-2438340237f9}">
          <p14:sldIdLst>
            <p14:sldId id="256"/>
          </p14:sldIdLst>
        </p14:section>
        <p14:section name="Solution" id="{eec39c1c-8bf1-7999-fa1c-c457c5d54756}">
          <p14:sldIdLst>
            <p14:sldId id="257"/>
            <p14:sldId id="258"/>
          </p14:sldIdLst>
        </p14:section>
        <p14:section name="How it works" id="{c49cd280-8668-db5a-b49d-d21fc3447d5e}">
          <p14:sldIdLst>
            <p14:sldId id="259"/>
            <p14:sldId id="260"/>
          </p14:sldIdLst>
        </p14:section>
        <p14:section name="Close" id="{e2fd213b-a5f7-9dca-85ac-0a679064ed58}">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20s]
Imagine you're blind and looking for your first job. Most job sites fight your screen reader, and checking every listing for pay, hours, travel and whether it needs sight takes hours. HireBuddy does that work for you, inside WorkBuddy.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25s]
This is all Nadia types. Twenty-three words, no forms. HireBuddy pulls out what matters: NVDA, Subang Jaya, English and Malay, weekdays, at least RM12 an hour. She just says where her resume is, and WorkBuddy finds it and reads her work history for her application.
[ACTION: paste this sentence into WorkBuddy now and let it run while you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[0:45-1:20 | 35s]
WorkBuddy is the engine. Our skill gives it the plan. It finds her resume, then searches the job sites while HireBuddy saves her profile, in parallel. Our tools check every job, verify the result, and save it on her computer. Local files, web search, automations, Telegram, email: all WorkBuddy.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[1:20-1:50 | 30s]
This is the real run. Only two jobs fit, so the agent tested five ways to widen the search. None helped, so it stopped instead of padding the list with bad fits. Lowering her pay? It asks her first. And it can't finish until verification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[1:50-2:20 | 30s]
[ACTION: switch to WorkBuddy and show the finished result. If it is not ready, use this screenshot.]
Two suitable jobs, each scored, checked and verified. Nothing under the legal minimum, nothing that needs sight, and nothing sent until she presses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[2:20-2:40 | 20s]
So, can our agent use WorkBuddy to solve a real problem and get things done? Real problem: blind job seekers lose hours every search. WorkBuddy is the engine. And it gets it done, with her OK. Scan to try it. Thank you.
[Before presenting: open the live app a minute early, because the free server takes about a minute to wake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Only jump here if the live WorkBuddy demo is slow or fails. Say: Here is a real run WorkBuddy did end to end, for another job seeker, Nur Aqilah, who has low vision and needs remote work. WorkBuddy found 20 real listings on job sites. HireBuddy checked every one, gave a reason for each it rejected, found the one that suits her, drafted an application for one worth asking about, and passed all 6 checks. Nothing was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rtlCol="0"/>
          <a:lstStyle>
            <a:lvl1pPr algn="l" indent="0" marL="0">
              <a:buNone/>
              <a:defRPr lang="en-US" sz="6600" b="1" dirty="0">
                <a:solidFill>
                  <a:schemeClr val="accent1"/>
                </a:solidFill>
              </a:defRPr>
            </a:lvl1pPr>
          </a:lstStyle>
          <a:p>
            <a:pPr algn="l" indent="0" marL="0">
              <a:buNone/>
            </a:pP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
        <p:nvSpPr>
          <p:cNvPr id="4"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3"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hirebuddy-k543.onrender.com" TargetMode="External"/><Relationship Id="rId4" Type="http://schemas.openxmlformats.org/officeDocument/2006/relationships/hyperlink" Target="https://github.com/Josan88/job-buddy"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lIns="0" tIns="0" rIns="0" bIns="0" rtlCol="0" anchor="b"/>
          <a:lstStyle/>
          <a:p>
            <a:pPr algn="l" indent="0" marL="0">
              <a:buNone/>
            </a:pPr>
            <a:r>
              <a:rPr lang="en-US" sz="6600" b="1" dirty="0">
                <a:solidFill>
                  <a:schemeClr val="accent1"/>
                </a:solidFill>
              </a:rPr>
              <a:t>HireBuddy</a:t>
            </a: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lIns="0" tIns="0" rIns="0" bIns="0" rtlCol="0"/>
          <a:lstStyle/>
          <a:p>
            <a:pPr algn="l" indent="0" marL="0">
              <a:buNone/>
            </a:pPr>
            <a:r>
              <a:rPr lang="en-US" sz="2400" b="1" dirty="0">
                <a:solidFill>
                  <a:schemeClr val="bg1"/>
                </a:solidFill>
              </a:rPr>
              <a:t>One sentence in. Checked jobs out.</a:t>
            </a:r>
            <a:endParaRPr lang="en-US" sz="2400" dirty="0"/>
          </a:p>
        </p:txBody>
      </p:sp>
      <p:sp>
        <p:nvSpPr>
          <p:cNvPr id="4" name="Problem"/>
          <p:cNvSpPr txBox="1"/>
          <p:nvPr/>
        </p:nvSpPr>
        <p:spPr>
          <a:xfrm>
            <a:off x="548640" y="3931920"/>
            <a:ext cx="10058400" cy="457200"/>
          </a:xfrm>
          <a:prstGeom prst="rect">
            <a:avLst/>
          </a:prstGeom>
          <a:noFill/>
          <a:ln/>
        </p:spPr>
        <p:txBody>
          <a:bodyPr wrap="square" lIns="0" tIns="0" rIns="0" bIns="0" rtlCol="0" anchor="ctr"/>
          <a:lstStyle/>
          <a:p>
            <a:pPr indent="0" marL="0">
              <a:buNone/>
            </a:pPr>
            <a:r>
              <a:rPr lang="en-US" sz="2000" dirty="0">
                <a:solidFill>
                  <a:schemeClr val="bg2"/>
                </a:solidFill>
              </a:rPr>
              <a:t>Job hunting with a screen reader takes hours.</a:t>
            </a:r>
            <a:endParaRPr lang="en-US" sz="2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One Prompt</a:t>
            </a:r>
            <a:endParaRPr lang="en-US" sz="3000" dirty="0"/>
          </a:p>
        </p:txBody>
      </p:sp>
      <p:sp>
        <p:nvSpPr>
          <p:cNvPr id="3" name="Quote card"/>
          <p:cNvSpPr/>
          <p:nvPr/>
        </p:nvSpPr>
        <p:spPr>
          <a:xfrm>
            <a:off x="548640" y="1417320"/>
            <a:ext cx="6400800" cy="4206240"/>
          </a:xfrm>
          <a:prstGeom prst="roundRect">
            <a:avLst>
              <a:gd name="adj" fmla="val 2174"/>
            </a:avLst>
          </a:prstGeom>
          <a:solidFill>
            <a:srgbClr val="1E293B"/>
          </a:solidFill>
          <a:ln/>
        </p:spPr>
      </p:sp>
      <p:sp>
        <p:nvSpPr>
          <p:cNvPr id="4" name="Quote"/>
          <p:cNvSpPr txBox="1"/>
          <p:nvPr/>
        </p:nvSpPr>
        <p:spPr>
          <a:xfrm>
            <a:off x="868680" y="1645920"/>
            <a:ext cx="5760720" cy="3749040"/>
          </a:xfrm>
          <a:prstGeom prst="rect">
            <a:avLst/>
          </a:prstGeom>
          <a:noFill/>
          <a:ln/>
        </p:spPr>
        <p:txBody>
          <a:bodyPr wrap="square" lIns="0" tIns="0" rIns="0" bIns="0" rtlCol="0" anchor="ctr"/>
          <a:lstStyle/>
          <a:p>
            <a:pPr indent="0" marL="0">
              <a:lnSpc>
                <a:spcPct val="130000"/>
              </a:lnSpc>
              <a:buNone/>
            </a:pPr>
            <a:r>
              <a:rPr lang="en-US" sz="2600" i="1" dirty="0">
                <a:solidFill>
                  <a:schemeClr val="bg1"/>
                </a:solidFill>
              </a:rPr>
              <a:t>"I'm Nadia, blind, NVDA user in Subang Jaya. I type fast in English and Malay. Weekdays 9am-5pm, min RM12/hr. Resume is in Documents."</a:t>
            </a:r>
            <a:endParaRPr lang="en-US" sz="2600" dirty="0"/>
          </a:p>
        </p:txBody>
      </p:sp>
      <p:sp>
        <p:nvSpPr>
          <p:cNvPr id="5" name="Group 1"/>
          <p:cNvSpPr txBox="1"/>
          <p:nvPr/>
        </p:nvSpPr>
        <p:spPr>
          <a:xfrm>
            <a:off x="7406640" y="1417320"/>
            <a:ext cx="4206240" cy="320040"/>
          </a:xfrm>
          <a:prstGeom prst="rect">
            <a:avLst/>
          </a:prstGeom>
          <a:noFill/>
          <a:ln/>
        </p:spPr>
        <p:txBody>
          <a:bodyPr wrap="square" lIns="0" tIns="0" rIns="0" bIns="0" rtlCol="0" anchor="ctr"/>
          <a:lstStyle/>
          <a:p>
            <a:pPr indent="0" marL="0">
              <a:buNone/>
            </a:pPr>
            <a:r>
              <a:rPr lang="en-US" sz="1300" dirty="0">
                <a:solidFill>
                  <a:schemeClr val="bg2"/>
                </a:solidFill>
              </a:rPr>
              <a:t>From her sentence</a:t>
            </a:r>
            <a:endParaRPr lang="en-US" sz="1300" dirty="0"/>
          </a:p>
        </p:txBody>
      </p:sp>
      <p:sp>
        <p:nvSpPr>
          <p:cNvPr id="6" name="Need 1"/>
          <p:cNvSpPr txBox="1"/>
          <p:nvPr/>
        </p:nvSpPr>
        <p:spPr>
          <a:xfrm>
            <a:off x="7406640" y="1783080"/>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Blind, uses NVDA</a:t>
            </a:r>
            <a:endParaRPr lang="en-US" sz="1600" dirty="0"/>
          </a:p>
        </p:txBody>
      </p:sp>
      <p:sp>
        <p:nvSpPr>
          <p:cNvPr id="7" name="Need 2"/>
          <p:cNvSpPr txBox="1"/>
          <p:nvPr/>
        </p:nvSpPr>
        <p:spPr>
          <a:xfrm>
            <a:off x="7406640" y="2404872"/>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Subang Jaya</a:t>
            </a:r>
            <a:endParaRPr lang="en-US" sz="1600" dirty="0"/>
          </a:p>
        </p:txBody>
      </p:sp>
      <p:sp>
        <p:nvSpPr>
          <p:cNvPr id="8" name="Need 3"/>
          <p:cNvSpPr txBox="1"/>
          <p:nvPr/>
        </p:nvSpPr>
        <p:spPr>
          <a:xfrm>
            <a:off x="7406640" y="3026664"/>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English, Malay, typing</a:t>
            </a:r>
            <a:endParaRPr lang="en-US" sz="1600" dirty="0"/>
          </a:p>
        </p:txBody>
      </p:sp>
      <p:sp>
        <p:nvSpPr>
          <p:cNvPr id="9" name="Need 4"/>
          <p:cNvSpPr txBox="1"/>
          <p:nvPr/>
        </p:nvSpPr>
        <p:spPr>
          <a:xfrm>
            <a:off x="7406640" y="3648456"/>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Weekdays 9 to 5</a:t>
            </a:r>
            <a:endParaRPr lang="en-US" sz="1600" dirty="0"/>
          </a:p>
        </p:txBody>
      </p:sp>
      <p:sp>
        <p:nvSpPr>
          <p:cNvPr id="10" name="Need 5"/>
          <p:cNvSpPr txBox="1"/>
          <p:nvPr/>
        </p:nvSpPr>
        <p:spPr>
          <a:xfrm>
            <a:off x="7406640" y="4270248"/>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RM12/hr minimum</a:t>
            </a:r>
            <a:endParaRPr lang="en-US" sz="1600" dirty="0"/>
          </a:p>
        </p:txBody>
      </p:sp>
      <p:sp>
        <p:nvSpPr>
          <p:cNvPr id="11" name="Group 2"/>
          <p:cNvSpPr txBox="1"/>
          <p:nvPr/>
        </p:nvSpPr>
        <p:spPr>
          <a:xfrm>
            <a:off x="7406640" y="4983480"/>
            <a:ext cx="4206240" cy="320040"/>
          </a:xfrm>
          <a:prstGeom prst="rect">
            <a:avLst/>
          </a:prstGeom>
          <a:noFill/>
          <a:ln/>
        </p:spPr>
        <p:txBody>
          <a:bodyPr wrap="square" lIns="0" tIns="0" rIns="0" bIns="0" rtlCol="0" anchor="ctr"/>
          <a:lstStyle/>
          <a:p>
            <a:pPr indent="0" marL="0">
              <a:buNone/>
            </a:pPr>
            <a:r>
              <a:rPr lang="en-US" sz="1300" dirty="0">
                <a:solidFill>
                  <a:schemeClr val="bg2"/>
                </a:solidFill>
              </a:rPr>
              <a:t>From her resume</a:t>
            </a:r>
            <a:endParaRPr lang="en-US" sz="1300" dirty="0"/>
          </a:p>
        </p:txBody>
      </p:sp>
      <p:sp>
        <p:nvSpPr>
          <p:cNvPr id="12" name="Need 6"/>
          <p:cNvSpPr txBox="1"/>
          <p:nvPr/>
        </p:nvSpPr>
        <p:spPr>
          <a:xfrm>
            <a:off x="7406640" y="5349240"/>
            <a:ext cx="4206240" cy="502920"/>
          </a:xfrm>
          <a:prstGeom prst="roundRect">
            <a:avLst>
              <a:gd name="adj" fmla="val 14545"/>
            </a:avLst>
          </a:prstGeom>
          <a:solidFill>
            <a:srgbClr val="1E293B"/>
          </a:solidFill>
          <a:ln w="15875">
            <a:solidFill>
              <a:srgbClr val="10B981"/>
            </a:solidFill>
          </a:ln>
        </p:spPr>
        <p:txBody>
          <a:bodyPr wrap="square" lIns="152400" tIns="152400" rIns="152400" bIns="152400" rtlCol="0" anchor="ctr"/>
          <a:lstStyle/>
          <a:p>
            <a:pPr algn="l" indent="0" marL="0">
              <a:buNone/>
            </a:pPr>
            <a:r>
              <a:rPr lang="en-US" sz="1600" b="1" dirty="0">
                <a:solidFill>
                  <a:schemeClr val="accent2"/>
                </a:solidFill>
              </a:rPr>
              <a:t>Bank hotline, 1 year</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WorkBuddy Is the Engine</a:t>
            </a:r>
            <a:endParaRPr lang="en-US" sz="3000" dirty="0"/>
          </a:p>
        </p:txBody>
      </p:sp>
      <p:sp>
        <p:nvSpPr>
          <p:cNvPr id="3" name="Prompt"/>
          <p:cNvSpPr txBox="1"/>
          <p:nvPr/>
        </p:nvSpPr>
        <p:spPr>
          <a:xfrm>
            <a:off x="548640" y="2103120"/>
            <a:ext cx="146304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Her sentence</a:t>
            </a:r>
            <a:endParaRPr lang="en-US" sz="1400" dirty="0"/>
          </a:p>
        </p:txBody>
      </p:sp>
      <p:sp>
        <p:nvSpPr>
          <p:cNvPr id="4" name="Arrow 1"/>
          <p:cNvSpPr/>
          <p:nvPr/>
        </p:nvSpPr>
        <p:spPr>
          <a:xfrm>
            <a:off x="2011680" y="2560320"/>
            <a:ext cx="274320" cy="0"/>
          </a:xfrm>
          <a:prstGeom prst="line">
            <a:avLst/>
          </a:prstGeom>
          <a:noFill/>
          <a:ln w="25400">
            <a:solidFill>
              <a:schemeClr val="accent5"/>
            </a:solidFill>
            <a:prstDash val="solid"/>
            <a:tailEnd type="triangle"/>
          </a:ln>
        </p:spPr>
      </p:sp>
      <p:sp>
        <p:nvSpPr>
          <p:cNvPr id="5" name="Find resume"/>
          <p:cNvSpPr txBox="1"/>
          <p:nvPr/>
        </p:nvSpPr>
        <p:spPr>
          <a:xfrm>
            <a:off x="2286000" y="2103120"/>
            <a:ext cx="146304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Reads her resume</a:t>
            </a:r>
            <a:endParaRPr lang="en-US" sz="1400" dirty="0"/>
          </a:p>
        </p:txBody>
      </p:sp>
      <p:sp>
        <p:nvSpPr>
          <p:cNvPr id="6" name="Arrow 2"/>
          <p:cNvSpPr/>
          <p:nvPr/>
        </p:nvSpPr>
        <p:spPr>
          <a:xfrm>
            <a:off x="3749040" y="2560320"/>
            <a:ext cx="274320" cy="0"/>
          </a:xfrm>
          <a:prstGeom prst="line">
            <a:avLst/>
          </a:prstGeom>
          <a:noFill/>
          <a:ln w="25400">
            <a:solidFill>
              <a:schemeClr val="accent5"/>
            </a:solidFill>
            <a:prstDash val="solid"/>
            <a:tailEnd type="triangle"/>
          </a:ln>
        </p:spPr>
      </p:sp>
      <p:sp>
        <p:nvSpPr>
          <p:cNvPr id="7" name="Search job sites"/>
          <p:cNvSpPr txBox="1"/>
          <p:nvPr/>
        </p:nvSpPr>
        <p:spPr>
          <a:xfrm>
            <a:off x="4023360" y="1600200"/>
            <a:ext cx="1828800" cy="777240"/>
          </a:xfrm>
          <a:prstGeom prst="roundRect">
            <a:avLst>
              <a:gd name="adj" fmla="val 9412"/>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Searches job sites</a:t>
            </a:r>
            <a:endParaRPr lang="en-US" sz="1400" dirty="0"/>
          </a:p>
        </p:txBody>
      </p:sp>
      <p:sp>
        <p:nvSpPr>
          <p:cNvPr id="8" name="Understand"/>
          <p:cNvSpPr txBox="1"/>
          <p:nvPr/>
        </p:nvSpPr>
        <p:spPr>
          <a:xfrm>
            <a:off x="4023360" y="2697480"/>
            <a:ext cx="1828800" cy="777240"/>
          </a:xfrm>
          <a:prstGeom prst="roundRect">
            <a:avLst>
              <a:gd name="adj" fmla="val 9412"/>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Saves profile</a:t>
            </a:r>
            <a:endParaRPr lang="en-US" sz="1400" dirty="0"/>
          </a:p>
        </p:txBody>
      </p:sp>
      <p:sp>
        <p:nvSpPr>
          <p:cNvPr id="9" name="Parallel label"/>
          <p:cNvSpPr txBox="1"/>
          <p:nvPr/>
        </p:nvSpPr>
        <p:spPr>
          <a:xfrm>
            <a:off x="4023360" y="3520440"/>
            <a:ext cx="1828800" cy="274320"/>
          </a:xfrm>
          <a:prstGeom prst="rect">
            <a:avLst/>
          </a:prstGeom>
          <a:noFill/>
          <a:ln/>
        </p:spPr>
        <p:txBody>
          <a:bodyPr wrap="square" lIns="0" tIns="0" rIns="0" bIns="0" rtlCol="0" anchor="ctr"/>
          <a:lstStyle/>
          <a:p>
            <a:pPr algn="ctr" indent="0" marL="0">
              <a:buNone/>
            </a:pPr>
            <a:r>
              <a:rPr lang="en-US" sz="1200" i="1" dirty="0">
                <a:solidFill>
                  <a:schemeClr val="accent2"/>
                </a:solidFill>
              </a:rPr>
              <a:t>in parallel</a:t>
            </a:r>
            <a:endParaRPr lang="en-US" sz="1200" dirty="0"/>
          </a:p>
        </p:txBody>
      </p:sp>
      <p:sp>
        <p:nvSpPr>
          <p:cNvPr id="10" name="Arrow 3a"/>
          <p:cNvSpPr/>
          <p:nvPr/>
        </p:nvSpPr>
        <p:spPr>
          <a:xfrm>
            <a:off x="5852160" y="1984248"/>
            <a:ext cx="320040" cy="457200"/>
          </a:xfrm>
          <a:prstGeom prst="line">
            <a:avLst/>
          </a:prstGeom>
          <a:noFill/>
          <a:ln w="25400">
            <a:solidFill>
              <a:schemeClr val="accent5"/>
            </a:solidFill>
            <a:prstDash val="solid"/>
            <a:tailEnd type="triangle"/>
          </a:ln>
        </p:spPr>
      </p:sp>
      <p:sp>
        <p:nvSpPr>
          <p:cNvPr id="11" name="Arrow 3b"/>
          <p:cNvSpPr/>
          <p:nvPr/>
        </p:nvSpPr>
        <p:spPr>
          <a:xfrm flipV="1">
            <a:off x="5852160" y="2624328"/>
            <a:ext cx="320040" cy="457200"/>
          </a:xfrm>
          <a:prstGeom prst="line">
            <a:avLst/>
          </a:prstGeom>
          <a:noFill/>
          <a:ln w="25400">
            <a:solidFill>
              <a:schemeClr val="accent5"/>
            </a:solidFill>
            <a:prstDash val="solid"/>
            <a:tailEnd type="triangle"/>
          </a:ln>
        </p:spPr>
      </p:sp>
      <p:sp>
        <p:nvSpPr>
          <p:cNvPr id="12" name="Check jobs"/>
          <p:cNvSpPr txBox="1"/>
          <p:nvPr/>
        </p:nvSpPr>
        <p:spPr>
          <a:xfrm>
            <a:off x="6172200" y="2103120"/>
            <a:ext cx="1645920" cy="914400"/>
          </a:xfrm>
          <a:prstGeom prst="roundRect">
            <a:avLst>
              <a:gd name="adj" fmla="val 8000"/>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Checks every job</a:t>
            </a:r>
            <a:endParaRPr lang="en-US" sz="1400" dirty="0"/>
          </a:p>
        </p:txBody>
      </p:sp>
      <p:sp>
        <p:nvSpPr>
          <p:cNvPr id="13" name="Arrow 4"/>
          <p:cNvSpPr/>
          <p:nvPr/>
        </p:nvSpPr>
        <p:spPr>
          <a:xfrm>
            <a:off x="7818120" y="2560320"/>
            <a:ext cx="274320" cy="0"/>
          </a:xfrm>
          <a:prstGeom prst="line">
            <a:avLst/>
          </a:prstGeom>
          <a:noFill/>
          <a:ln w="25400">
            <a:solidFill>
              <a:schemeClr val="accent5"/>
            </a:solidFill>
            <a:prstDash val="solid"/>
            <a:tailEnd type="triangle"/>
          </a:ln>
        </p:spPr>
      </p:sp>
      <p:sp>
        <p:nvSpPr>
          <p:cNvPr id="14" name="Verify"/>
          <p:cNvSpPr txBox="1"/>
          <p:nvPr/>
        </p:nvSpPr>
        <p:spPr>
          <a:xfrm>
            <a:off x="8092440" y="2103120"/>
            <a:ext cx="1463040" cy="914400"/>
          </a:xfrm>
          <a:prstGeom prst="roundRect">
            <a:avLst>
              <a:gd name="adj" fmla="val 8000"/>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Verifies</a:t>
            </a:r>
            <a:endParaRPr lang="en-US" sz="1400" dirty="0"/>
          </a:p>
        </p:txBody>
      </p:sp>
      <p:sp>
        <p:nvSpPr>
          <p:cNvPr id="15" name="Arrow 5"/>
          <p:cNvSpPr/>
          <p:nvPr/>
        </p:nvSpPr>
        <p:spPr>
          <a:xfrm>
            <a:off x="9555480" y="2560320"/>
            <a:ext cx="274320" cy="0"/>
          </a:xfrm>
          <a:prstGeom prst="line">
            <a:avLst/>
          </a:prstGeom>
          <a:noFill/>
          <a:ln w="25400">
            <a:solidFill>
              <a:schemeClr val="accent5"/>
            </a:solidFill>
            <a:prstDash val="solid"/>
            <a:tailEnd type="triangle"/>
          </a:ln>
        </p:spPr>
      </p:sp>
      <p:sp>
        <p:nvSpPr>
          <p:cNvPr id="16" name="Deliver"/>
          <p:cNvSpPr txBox="1"/>
          <p:nvPr/>
        </p:nvSpPr>
        <p:spPr>
          <a:xfrm>
            <a:off x="9829800" y="2103120"/>
            <a:ext cx="1810512"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Saves results</a:t>
            </a:r>
            <a:endParaRPr lang="en-US" sz="1400" dirty="0"/>
          </a:p>
        </p:txBody>
      </p:sp>
      <p:sp>
        <p:nvSpPr>
          <p:cNvPr id="17" name="Legend 1 swatch"/>
          <p:cNvSpPr/>
          <p:nvPr/>
        </p:nvSpPr>
        <p:spPr>
          <a:xfrm>
            <a:off x="548640" y="4069080"/>
            <a:ext cx="256032" cy="256032"/>
          </a:xfrm>
          <a:prstGeom prst="roundRect">
            <a:avLst>
              <a:gd name="adj" fmla="val 17857"/>
            </a:avLst>
          </a:prstGeom>
          <a:solidFill>
            <a:srgbClr val="1E40AF"/>
          </a:solidFill>
          <a:ln/>
        </p:spPr>
      </p:sp>
      <p:sp>
        <p:nvSpPr>
          <p:cNvPr id="18" name="Legend 1"/>
          <p:cNvSpPr txBox="1"/>
          <p:nvPr/>
        </p:nvSpPr>
        <p:spPr>
          <a:xfrm>
            <a:off x="914400" y="4050792"/>
            <a:ext cx="2011680" cy="292608"/>
          </a:xfrm>
          <a:prstGeom prst="rect">
            <a:avLst/>
          </a:prstGeom>
          <a:noFill/>
          <a:ln/>
        </p:spPr>
        <p:txBody>
          <a:bodyPr wrap="square" lIns="0" tIns="0" rIns="0" bIns="0" rtlCol="0" anchor="ctr"/>
          <a:lstStyle/>
          <a:p>
            <a:pPr indent="0" marL="0">
              <a:buNone/>
            </a:pPr>
            <a:r>
              <a:rPr lang="en-US" sz="1300" dirty="0">
                <a:solidFill>
                  <a:schemeClr val="bg2"/>
                </a:solidFill>
              </a:rPr>
              <a:t>WorkBuddy</a:t>
            </a:r>
            <a:endParaRPr lang="en-US" sz="1300" dirty="0"/>
          </a:p>
        </p:txBody>
      </p:sp>
      <p:sp>
        <p:nvSpPr>
          <p:cNvPr id="19" name="Legend 2 swatch"/>
          <p:cNvSpPr/>
          <p:nvPr/>
        </p:nvSpPr>
        <p:spPr>
          <a:xfrm>
            <a:off x="2926080" y="4069080"/>
            <a:ext cx="256032" cy="256032"/>
          </a:xfrm>
          <a:prstGeom prst="roundRect">
            <a:avLst>
              <a:gd name="adj" fmla="val 17857"/>
            </a:avLst>
          </a:prstGeom>
          <a:solidFill>
            <a:srgbClr val="3B82F6"/>
          </a:solidFill>
          <a:ln/>
        </p:spPr>
      </p:sp>
      <p:sp>
        <p:nvSpPr>
          <p:cNvPr id="20" name="Legend 2"/>
          <p:cNvSpPr txBox="1"/>
          <p:nvPr/>
        </p:nvSpPr>
        <p:spPr>
          <a:xfrm>
            <a:off x="3291840" y="4050792"/>
            <a:ext cx="2011680" cy="292608"/>
          </a:xfrm>
          <a:prstGeom prst="rect">
            <a:avLst/>
          </a:prstGeom>
          <a:noFill/>
          <a:ln/>
        </p:spPr>
        <p:txBody>
          <a:bodyPr wrap="square" lIns="0" tIns="0" rIns="0" bIns="0" rtlCol="0" anchor="ctr"/>
          <a:lstStyle/>
          <a:p>
            <a:pPr indent="0" marL="0">
              <a:buNone/>
            </a:pPr>
            <a:r>
              <a:rPr lang="en-US" sz="1300" dirty="0">
                <a:solidFill>
                  <a:schemeClr val="bg2"/>
                </a:solidFill>
              </a:rPr>
              <a:t>HireBuddy MCP tools</a:t>
            </a:r>
            <a:endParaRPr lang="en-US" sz="1300" dirty="0"/>
          </a:p>
        </p:txBody>
      </p:sp>
      <p:sp>
        <p:nvSpPr>
          <p:cNvPr id="21" name="Features label"/>
          <p:cNvSpPr txBox="1"/>
          <p:nvPr/>
        </p:nvSpPr>
        <p:spPr>
          <a:xfrm>
            <a:off x="548640" y="4800600"/>
            <a:ext cx="5486400" cy="320040"/>
          </a:xfrm>
          <a:prstGeom prst="rect">
            <a:avLst/>
          </a:prstGeom>
          <a:noFill/>
          <a:ln/>
        </p:spPr>
        <p:txBody>
          <a:bodyPr wrap="square" lIns="0" tIns="0" rIns="0" bIns="0" rtlCol="0" anchor="ctr"/>
          <a:lstStyle/>
          <a:p>
            <a:pPr indent="0" marL="0">
              <a:buNone/>
            </a:pPr>
            <a:r>
              <a:rPr lang="en-US" sz="1300" dirty="0">
                <a:solidFill>
                  <a:schemeClr val="bg2"/>
                </a:solidFill>
              </a:rPr>
              <a:t>WorkBuddy features used</a:t>
            </a:r>
            <a:endParaRPr lang="en-US" sz="1300" dirty="0"/>
          </a:p>
        </p:txBody>
      </p:sp>
      <p:sp>
        <p:nvSpPr>
          <p:cNvPr id="22" name="Feature 1"/>
          <p:cNvSpPr txBox="1"/>
          <p:nvPr/>
        </p:nvSpPr>
        <p:spPr>
          <a:xfrm>
            <a:off x="54864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Local files</a:t>
            </a:r>
            <a:endParaRPr lang="en-US" sz="1500" dirty="0"/>
          </a:p>
        </p:txBody>
      </p:sp>
      <p:sp>
        <p:nvSpPr>
          <p:cNvPr id="23" name="Feature 2"/>
          <p:cNvSpPr txBox="1"/>
          <p:nvPr/>
        </p:nvSpPr>
        <p:spPr>
          <a:xfrm>
            <a:off x="278892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Web search</a:t>
            </a:r>
            <a:endParaRPr lang="en-US" sz="1500" dirty="0"/>
          </a:p>
        </p:txBody>
      </p:sp>
      <p:sp>
        <p:nvSpPr>
          <p:cNvPr id="24" name="Feature 3"/>
          <p:cNvSpPr txBox="1"/>
          <p:nvPr/>
        </p:nvSpPr>
        <p:spPr>
          <a:xfrm>
            <a:off x="502920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Automations</a:t>
            </a:r>
            <a:endParaRPr lang="en-US" sz="1500" dirty="0"/>
          </a:p>
        </p:txBody>
      </p:sp>
      <p:sp>
        <p:nvSpPr>
          <p:cNvPr id="25" name="Feature 4"/>
          <p:cNvSpPr txBox="1"/>
          <p:nvPr/>
        </p:nvSpPr>
        <p:spPr>
          <a:xfrm>
            <a:off x="726948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Telegram</a:t>
            </a:r>
            <a:endParaRPr lang="en-US" sz="1500" dirty="0"/>
          </a:p>
        </p:txBody>
      </p:sp>
      <p:sp>
        <p:nvSpPr>
          <p:cNvPr id="26" name="Feature 5"/>
          <p:cNvSpPr txBox="1"/>
          <p:nvPr/>
        </p:nvSpPr>
        <p:spPr>
          <a:xfrm>
            <a:off x="950976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Email</a:t>
            </a:r>
            <a:endParaRPr lang="en-US" sz="15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Why It's an Agent</a:t>
            </a:r>
            <a:endParaRPr lang="en-US" sz="3000" dirty="0"/>
          </a:p>
        </p:txBody>
      </p:sp>
      <p:sp>
        <p:nvSpPr>
          <p:cNvPr id="3" name="Step 1 marker"/>
          <p:cNvSpPr/>
          <p:nvPr/>
        </p:nvSpPr>
        <p:spPr>
          <a:xfrm>
            <a:off x="548640" y="1664208"/>
            <a:ext cx="329184" cy="329184"/>
          </a:xfrm>
          <a:prstGeom prst="ellipse">
            <a:avLst/>
          </a:prstGeom>
          <a:solidFill>
            <a:srgbClr val="F59E0B"/>
          </a:solidFill>
          <a:ln/>
        </p:spPr>
      </p:sp>
      <p:sp>
        <p:nvSpPr>
          <p:cNvPr id="4" name="Step 1"/>
          <p:cNvSpPr txBox="1"/>
          <p:nvPr/>
        </p:nvSpPr>
        <p:spPr>
          <a:xfrm>
            <a:off x="1051560" y="160020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Only 2 of 3 jobs fit</a:t>
            </a:r>
            <a:endParaRPr lang="en-US" sz="1800" dirty="0"/>
          </a:p>
        </p:txBody>
      </p:sp>
      <p:sp>
        <p:nvSpPr>
          <p:cNvPr id="5" name="Step 2 marker"/>
          <p:cNvSpPr/>
          <p:nvPr/>
        </p:nvSpPr>
        <p:spPr>
          <a:xfrm>
            <a:off x="548640" y="2624328"/>
            <a:ext cx="329184" cy="329184"/>
          </a:xfrm>
          <a:prstGeom prst="ellipse">
            <a:avLst/>
          </a:prstGeom>
          <a:solidFill>
            <a:srgbClr val="3B82F6"/>
          </a:solidFill>
          <a:ln/>
        </p:spPr>
      </p:sp>
      <p:sp>
        <p:nvSpPr>
          <p:cNvPr id="6" name="Step 2"/>
          <p:cNvSpPr txBox="1"/>
          <p:nvPr/>
        </p:nvSpPr>
        <p:spPr>
          <a:xfrm>
            <a:off x="1051560" y="256032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Tests 5 ways to widen</a:t>
            </a:r>
            <a:endParaRPr lang="en-US" sz="1800" dirty="0"/>
          </a:p>
        </p:txBody>
      </p:sp>
      <p:sp>
        <p:nvSpPr>
          <p:cNvPr id="7" name="Step 3 marker"/>
          <p:cNvSpPr/>
          <p:nvPr/>
        </p:nvSpPr>
        <p:spPr>
          <a:xfrm>
            <a:off x="548640" y="3584448"/>
            <a:ext cx="329184" cy="329184"/>
          </a:xfrm>
          <a:prstGeom prst="ellipse">
            <a:avLst/>
          </a:prstGeom>
          <a:solidFill>
            <a:srgbClr val="10B981"/>
          </a:solidFill>
          <a:ln/>
        </p:spPr>
      </p:sp>
      <p:sp>
        <p:nvSpPr>
          <p:cNvPr id="8" name="Step 3"/>
          <p:cNvSpPr txBox="1"/>
          <p:nvPr/>
        </p:nvSpPr>
        <p:spPr>
          <a:xfrm>
            <a:off x="1051560" y="352044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None helps: stops, no padding</a:t>
            </a:r>
            <a:endParaRPr lang="en-US" sz="1800" dirty="0"/>
          </a:p>
        </p:txBody>
      </p:sp>
      <p:sp>
        <p:nvSpPr>
          <p:cNvPr id="9" name="Step 4 marker"/>
          <p:cNvSpPr/>
          <p:nvPr/>
        </p:nvSpPr>
        <p:spPr>
          <a:xfrm>
            <a:off x="548640" y="4544568"/>
            <a:ext cx="329184" cy="329184"/>
          </a:xfrm>
          <a:prstGeom prst="ellipse">
            <a:avLst/>
          </a:prstGeom>
          <a:solidFill>
            <a:srgbClr val="EF4444"/>
          </a:solidFill>
          <a:ln/>
        </p:spPr>
      </p:sp>
      <p:sp>
        <p:nvSpPr>
          <p:cNvPr id="10" name="Step 4"/>
          <p:cNvSpPr txBox="1"/>
          <p:nvPr/>
        </p:nvSpPr>
        <p:spPr>
          <a:xfrm>
            <a:off x="1051560" y="448056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Lower her pay? Asks first</a:t>
            </a:r>
            <a:endParaRPr lang="en-US" sz="1800" dirty="0"/>
          </a:p>
        </p:txBody>
      </p:sp>
      <p:sp>
        <p:nvSpPr>
          <p:cNvPr id="11" name="Loop Goal"/>
          <p:cNvSpPr txBox="1"/>
          <p:nvPr/>
        </p:nvSpPr>
        <p:spPr>
          <a:xfrm>
            <a:off x="6172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Goal</a:t>
            </a:r>
            <a:endParaRPr lang="en-US" sz="1400" dirty="0"/>
          </a:p>
        </p:txBody>
      </p:sp>
      <p:sp>
        <p:nvSpPr>
          <p:cNvPr id="12" name="Loop arrow 1"/>
          <p:cNvSpPr/>
          <p:nvPr/>
        </p:nvSpPr>
        <p:spPr>
          <a:xfrm>
            <a:off x="7132320" y="2331720"/>
            <a:ext cx="182880" cy="0"/>
          </a:xfrm>
          <a:prstGeom prst="line">
            <a:avLst/>
          </a:prstGeom>
          <a:noFill/>
          <a:ln w="25400">
            <a:solidFill>
              <a:schemeClr val="accent5"/>
            </a:solidFill>
            <a:prstDash val="solid"/>
            <a:tailEnd type="triangle"/>
          </a:ln>
        </p:spPr>
      </p:sp>
      <p:sp>
        <p:nvSpPr>
          <p:cNvPr id="13" name="Loop Plan"/>
          <p:cNvSpPr txBox="1"/>
          <p:nvPr/>
        </p:nvSpPr>
        <p:spPr>
          <a:xfrm>
            <a:off x="7315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Plan</a:t>
            </a:r>
            <a:endParaRPr lang="en-US" sz="1400" dirty="0"/>
          </a:p>
        </p:txBody>
      </p:sp>
      <p:sp>
        <p:nvSpPr>
          <p:cNvPr id="14" name="Loop arrow 2"/>
          <p:cNvSpPr/>
          <p:nvPr/>
        </p:nvSpPr>
        <p:spPr>
          <a:xfrm>
            <a:off x="8275320" y="2331720"/>
            <a:ext cx="182880" cy="0"/>
          </a:xfrm>
          <a:prstGeom prst="line">
            <a:avLst/>
          </a:prstGeom>
          <a:noFill/>
          <a:ln w="25400">
            <a:solidFill>
              <a:schemeClr val="accent5"/>
            </a:solidFill>
            <a:prstDash val="solid"/>
            <a:tailEnd type="triangle"/>
          </a:ln>
        </p:spPr>
      </p:sp>
      <p:sp>
        <p:nvSpPr>
          <p:cNvPr id="15" name="Loop Tools"/>
          <p:cNvSpPr txBox="1"/>
          <p:nvPr/>
        </p:nvSpPr>
        <p:spPr>
          <a:xfrm>
            <a:off x="8458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Tools</a:t>
            </a:r>
            <a:endParaRPr lang="en-US" sz="1400" dirty="0"/>
          </a:p>
        </p:txBody>
      </p:sp>
      <p:sp>
        <p:nvSpPr>
          <p:cNvPr id="16" name="Loop arrow 3"/>
          <p:cNvSpPr/>
          <p:nvPr/>
        </p:nvSpPr>
        <p:spPr>
          <a:xfrm>
            <a:off x="9418320" y="2331720"/>
            <a:ext cx="182880" cy="0"/>
          </a:xfrm>
          <a:prstGeom prst="line">
            <a:avLst/>
          </a:prstGeom>
          <a:noFill/>
          <a:ln w="25400">
            <a:solidFill>
              <a:schemeClr val="accent5"/>
            </a:solidFill>
            <a:prstDash val="solid"/>
            <a:tailEnd type="triangle"/>
          </a:ln>
        </p:spPr>
      </p:sp>
      <p:sp>
        <p:nvSpPr>
          <p:cNvPr id="17" name="Loop Verify"/>
          <p:cNvSpPr txBox="1"/>
          <p:nvPr/>
        </p:nvSpPr>
        <p:spPr>
          <a:xfrm>
            <a:off x="9601200" y="2011680"/>
            <a:ext cx="960120" cy="640080"/>
          </a:xfrm>
          <a:prstGeom prst="roundRect">
            <a:avLst>
              <a:gd name="adj" fmla="val 11429"/>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Verify</a:t>
            </a:r>
            <a:endParaRPr lang="en-US" sz="1400" dirty="0"/>
          </a:p>
        </p:txBody>
      </p:sp>
      <p:sp>
        <p:nvSpPr>
          <p:cNvPr id="18" name="Loop arrow 4"/>
          <p:cNvSpPr/>
          <p:nvPr/>
        </p:nvSpPr>
        <p:spPr>
          <a:xfrm>
            <a:off x="10561320" y="2331720"/>
            <a:ext cx="182880" cy="0"/>
          </a:xfrm>
          <a:prstGeom prst="line">
            <a:avLst/>
          </a:prstGeom>
          <a:noFill/>
          <a:ln w="25400">
            <a:solidFill>
              <a:schemeClr val="accent5"/>
            </a:solidFill>
            <a:prstDash val="solid"/>
            <a:tailEnd type="triangle"/>
          </a:ln>
        </p:spPr>
      </p:sp>
      <p:sp>
        <p:nvSpPr>
          <p:cNvPr id="19" name="Loop Deliver"/>
          <p:cNvSpPr txBox="1"/>
          <p:nvPr/>
        </p:nvSpPr>
        <p:spPr>
          <a:xfrm>
            <a:off x="10744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Deliver</a:t>
            </a:r>
            <a:endParaRPr lang="en-US" sz="1400" dirty="0"/>
          </a:p>
        </p:txBody>
      </p:sp>
      <p:sp>
        <p:nvSpPr>
          <p:cNvPr id="20" name="Loop Fix"/>
          <p:cNvSpPr txBox="1"/>
          <p:nvPr/>
        </p:nvSpPr>
        <p:spPr>
          <a:xfrm>
            <a:off x="8595360" y="3429000"/>
            <a:ext cx="960120" cy="640080"/>
          </a:xfrm>
          <a:prstGeom prst="roundRect">
            <a:avLst>
              <a:gd name="adj" fmla="val 11429"/>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Fix</a:t>
            </a:r>
            <a:endParaRPr lang="en-US" sz="1400" dirty="0"/>
          </a:p>
        </p:txBody>
      </p:sp>
      <p:sp>
        <p:nvSpPr>
          <p:cNvPr id="21" name="Problems arrow"/>
          <p:cNvSpPr/>
          <p:nvPr/>
        </p:nvSpPr>
        <p:spPr>
          <a:xfrm flipH="1">
            <a:off x="9555480" y="2651760"/>
            <a:ext cx="320040" cy="777240"/>
          </a:xfrm>
          <a:prstGeom prst="line">
            <a:avLst/>
          </a:prstGeom>
          <a:noFill/>
          <a:ln w="25400">
            <a:solidFill>
              <a:srgbClr val="10B981"/>
            </a:solidFill>
            <a:prstDash val="dash"/>
            <a:tailEnd type="triangle"/>
          </a:ln>
        </p:spPr>
      </p:sp>
      <p:sp>
        <p:nvSpPr>
          <p:cNvPr id="22" name="Retry arrow"/>
          <p:cNvSpPr/>
          <p:nvPr/>
        </p:nvSpPr>
        <p:spPr>
          <a:xfrm flipH="1" flipV="1">
            <a:off x="9006840" y="2651760"/>
            <a:ext cx="320040" cy="777240"/>
          </a:xfrm>
          <a:prstGeom prst="line">
            <a:avLst/>
          </a:prstGeom>
          <a:noFill/>
          <a:ln w="25400">
            <a:solidFill>
              <a:srgbClr val="10B981"/>
            </a:solidFill>
            <a:prstDash val="dash"/>
            <a:tailEnd type="triangle"/>
          </a:ln>
        </p:spPr>
      </p:sp>
      <p:sp>
        <p:nvSpPr>
          <p:cNvPr id="23" name="Problems label"/>
          <p:cNvSpPr txBox="1"/>
          <p:nvPr/>
        </p:nvSpPr>
        <p:spPr>
          <a:xfrm>
            <a:off x="9921240" y="2971800"/>
            <a:ext cx="1097280" cy="274320"/>
          </a:xfrm>
          <a:prstGeom prst="rect">
            <a:avLst/>
          </a:prstGeom>
          <a:noFill/>
          <a:ln/>
        </p:spPr>
        <p:txBody>
          <a:bodyPr wrap="square" lIns="0" tIns="0" rIns="0" bIns="0" rtlCol="0" anchor="ctr"/>
          <a:lstStyle/>
          <a:p>
            <a:pPr indent="0" marL="0">
              <a:buNone/>
            </a:pPr>
            <a:r>
              <a:rPr lang="en-US" sz="1100" dirty="0">
                <a:solidFill>
                  <a:schemeClr val="accent2"/>
                </a:solidFill>
              </a:rPr>
              <a:t>problems</a:t>
            </a:r>
            <a:endParaRPr lang="en-US" sz="1100" dirty="0"/>
          </a:p>
        </p:txBody>
      </p:sp>
      <p:sp>
        <p:nvSpPr>
          <p:cNvPr id="24" name="Retry label"/>
          <p:cNvSpPr txBox="1"/>
          <p:nvPr/>
        </p:nvSpPr>
        <p:spPr>
          <a:xfrm>
            <a:off x="7772400" y="2971800"/>
            <a:ext cx="731520" cy="274320"/>
          </a:xfrm>
          <a:prstGeom prst="rect">
            <a:avLst/>
          </a:prstGeom>
          <a:noFill/>
          <a:ln/>
        </p:spPr>
        <p:txBody>
          <a:bodyPr wrap="square" lIns="0" tIns="0" rIns="0" bIns="0" rtlCol="0" anchor="ctr"/>
          <a:lstStyle/>
          <a:p>
            <a:pPr algn="r" indent="0" marL="0">
              <a:buNone/>
            </a:pPr>
            <a:r>
              <a:rPr lang="en-US" sz="1100" dirty="0">
                <a:solidFill>
                  <a:schemeClr val="accent2"/>
                </a:solidFill>
              </a:rPr>
              <a:t>retry</a:t>
            </a:r>
            <a:endParaRPr lang="en-US" sz="1100" dirty="0"/>
          </a:p>
        </p:txBody>
      </p:sp>
      <p:sp>
        <p:nvSpPr>
          <p:cNvPr id="25" name="Loop note"/>
          <p:cNvSpPr txBox="1"/>
          <p:nvPr/>
        </p:nvSpPr>
        <p:spPr>
          <a:xfrm>
            <a:off x="6172200" y="4480560"/>
            <a:ext cx="5257800" cy="457200"/>
          </a:xfrm>
          <a:prstGeom prst="rect">
            <a:avLst/>
          </a:prstGeom>
          <a:noFill/>
          <a:ln/>
        </p:spPr>
        <p:txBody>
          <a:bodyPr wrap="square" lIns="0" tIns="0" rIns="0" bIns="0" rtlCol="0" anchor="ctr"/>
          <a:lstStyle/>
          <a:p>
            <a:pPr indent="0" marL="0">
              <a:buNone/>
            </a:pPr>
            <a:r>
              <a:rPr lang="en-US" sz="1800" b="1" dirty="0">
                <a:solidFill>
                  <a:schemeClr val="accent1"/>
                </a:solidFill>
              </a:rPr>
              <a:t>Can't finish until verified.</a:t>
            </a:r>
            <a:endParaRPr lang="en-US" sz="18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Proof</a:t>
            </a:r>
            <a:endParaRPr lang="en-US" sz="3000" dirty="0"/>
          </a:p>
        </p:txBody>
      </p:sp>
      <p:pic>
        <p:nvPicPr>
          <p:cNvPr id="3" name="Seeker result screenshot" descr="HireBuddy result for Nadia: 2 suitable jobs with match scores, checked and verified, 2 of 2 checks passed">    </p:cNvPr>
          <p:cNvPicPr>
            <a:picLocks noChangeAspect="1"/>
          </p:cNvPicPr>
          <p:nvPr/>
        </p:nvPicPr>
        <p:blipFill>
          <a:blip r:embed="rId1"/>
          <a:stretch>
            <a:fillRect/>
          </a:stretch>
        </p:blipFill>
        <p:spPr>
          <a:xfrm>
            <a:off x="4178808" y="1188720"/>
            <a:ext cx="3831336" cy="4800600"/>
          </a:xfrm>
          <a:prstGeom prst="rect">
            <a:avLst/>
          </a:prstGeom>
        </p:spPr>
      </p:pic>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Can It Use WorkBuddy to Get Things Done?</a:t>
            </a:r>
            <a:endParaRPr lang="en-US" sz="3000" dirty="0"/>
          </a:p>
        </p:txBody>
      </p:sp>
      <p:sp>
        <p:nvSpPr>
          <p:cNvPr id="3" name="Answer 1 check"/>
          <p:cNvSpPr/>
          <p:nvPr/>
        </p:nvSpPr>
        <p:spPr>
          <a:xfrm>
            <a:off x="548640" y="1463040"/>
            <a:ext cx="548640" cy="548640"/>
          </a:xfrm>
          <a:prstGeom prst="ellipse">
            <a:avLst/>
          </a:prstGeom>
          <a:solidFill>
            <a:srgbClr val="10B981"/>
          </a:solidFill>
          <a:ln/>
        </p:spPr>
      </p:sp>
      <p:sp>
        <p:nvSpPr>
          <p:cNvPr id="4" name="Answer 1 tick"/>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5" name="Answer 1"/>
          <p:cNvSpPr txBox="1"/>
          <p:nvPr/>
        </p:nvSpPr>
        <p:spPr>
          <a:xfrm>
            <a:off x="1325880" y="1417320"/>
            <a:ext cx="6035040" cy="1097280"/>
          </a:xfrm>
          <a:prstGeom prst="rect">
            <a:avLst/>
          </a:prstGeom>
          <a:noFill/>
          <a:ln/>
        </p:spPr>
        <p:txBody>
          <a:bodyPr wrap="square" lIns="0" tIns="0" rIns="0" bIns="0" rtlCol="0" anchor="t"/>
          <a:lstStyle/>
          <a:p>
            <a:pPr indent="0" marL="0">
              <a:buNone/>
            </a:pPr>
            <a:r>
              <a:rPr lang="en-US" sz="2400" b="1" dirty="0">
                <a:solidFill>
                  <a:schemeClr val="bg1"/>
                </a:solidFill>
              </a:rPr>
              <a:t>Real problem</a:t>
            </a:r>
            <a:endParaRPr lang="en-US" sz="1600" dirty="0"/>
          </a:p>
          <a:p>
            <a:pPr indent="0" marL="0">
              <a:buNone/>
            </a:pPr>
            <a:r>
              <a:rPr lang="en-US" sz="1600" dirty="0">
                <a:solidFill>
                  <a:schemeClr val="bg2"/>
                </a:solidFill>
              </a:rPr>
              <a:t>Blind job seekers lose hours on every search</a:t>
            </a:r>
            <a:endParaRPr lang="en-US" sz="1600" dirty="0"/>
          </a:p>
        </p:txBody>
      </p:sp>
      <p:sp>
        <p:nvSpPr>
          <p:cNvPr id="6" name="Answer 2 check"/>
          <p:cNvSpPr/>
          <p:nvPr/>
        </p:nvSpPr>
        <p:spPr>
          <a:xfrm>
            <a:off x="548640" y="2834640"/>
            <a:ext cx="548640" cy="548640"/>
          </a:xfrm>
          <a:prstGeom prst="ellipse">
            <a:avLst/>
          </a:prstGeom>
          <a:solidFill>
            <a:srgbClr val="10B981"/>
          </a:solidFill>
          <a:ln/>
        </p:spPr>
      </p:sp>
      <p:sp>
        <p:nvSpPr>
          <p:cNvPr id="7" name="Answer 2 tick"/>
          <p:cNvSpPr txBox="1"/>
          <p:nvPr/>
        </p:nvSpPr>
        <p:spPr>
          <a:xfrm>
            <a:off x="548640" y="283464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8" name="Answer 2"/>
          <p:cNvSpPr txBox="1"/>
          <p:nvPr/>
        </p:nvSpPr>
        <p:spPr>
          <a:xfrm>
            <a:off x="1325880" y="2788920"/>
            <a:ext cx="6035040" cy="1097280"/>
          </a:xfrm>
          <a:prstGeom prst="rect">
            <a:avLst/>
          </a:prstGeom>
          <a:noFill/>
          <a:ln/>
        </p:spPr>
        <p:txBody>
          <a:bodyPr wrap="square" lIns="0" tIns="0" rIns="0" bIns="0" rtlCol="0" anchor="t"/>
          <a:lstStyle/>
          <a:p>
            <a:pPr indent="0" marL="0">
              <a:buNone/>
            </a:pPr>
            <a:r>
              <a:rPr lang="en-US" sz="2400" b="1" dirty="0">
                <a:solidFill>
                  <a:schemeClr val="bg1"/>
                </a:solidFill>
              </a:rPr>
              <a:t>WorkBuddy is the engine</a:t>
            </a:r>
            <a:endParaRPr lang="en-US" sz="1600" dirty="0"/>
          </a:p>
          <a:p>
            <a:pPr indent="0" marL="0">
              <a:buNone/>
            </a:pPr>
            <a:r>
              <a:rPr lang="en-US" sz="1600" dirty="0">
                <a:solidFill>
                  <a:schemeClr val="bg2"/>
                </a:solidFill>
              </a:rPr>
              <a:t>Its files, web search and email drive our MCP tools</a:t>
            </a:r>
            <a:endParaRPr lang="en-US" sz="1600" dirty="0"/>
          </a:p>
        </p:txBody>
      </p:sp>
      <p:sp>
        <p:nvSpPr>
          <p:cNvPr id="9" name="Answer 3 check"/>
          <p:cNvSpPr/>
          <p:nvPr/>
        </p:nvSpPr>
        <p:spPr>
          <a:xfrm>
            <a:off x="548640" y="4206240"/>
            <a:ext cx="548640" cy="548640"/>
          </a:xfrm>
          <a:prstGeom prst="ellipse">
            <a:avLst/>
          </a:prstGeom>
          <a:solidFill>
            <a:srgbClr val="10B981"/>
          </a:solidFill>
          <a:ln/>
        </p:spPr>
      </p:sp>
      <p:sp>
        <p:nvSpPr>
          <p:cNvPr id="10" name="Answer 3 tick"/>
          <p:cNvSpPr txBox="1"/>
          <p:nvPr/>
        </p:nvSpPr>
        <p:spPr>
          <a:xfrm>
            <a:off x="548640" y="420624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11" name="Answer 3"/>
          <p:cNvSpPr txBox="1"/>
          <p:nvPr/>
        </p:nvSpPr>
        <p:spPr>
          <a:xfrm>
            <a:off x="1325880" y="4160520"/>
            <a:ext cx="6035040" cy="1097280"/>
          </a:xfrm>
          <a:prstGeom prst="rect">
            <a:avLst/>
          </a:prstGeom>
          <a:noFill/>
          <a:ln/>
        </p:spPr>
        <p:txBody>
          <a:bodyPr wrap="square" lIns="0" tIns="0" rIns="0" bIns="0" rtlCol="0" anchor="t"/>
          <a:lstStyle/>
          <a:p>
            <a:pPr indent="0" marL="0">
              <a:buNone/>
            </a:pPr>
            <a:r>
              <a:rPr lang="en-US" sz="2400" b="1" dirty="0">
                <a:solidFill>
                  <a:schemeClr val="bg1"/>
                </a:solidFill>
              </a:rPr>
              <a:t>Gets it done</a:t>
            </a:r>
            <a:endParaRPr lang="en-US" sz="1600" dirty="0"/>
          </a:p>
          <a:p>
            <a:pPr indent="0" marL="0">
              <a:buNone/>
            </a:pPr>
            <a:r>
              <a:rPr lang="en-US" sz="1600" dirty="0">
                <a:solidFill>
                  <a:schemeClr val="bg2"/>
                </a:solidFill>
              </a:rPr>
              <a:t>Checked, verified, applied only with her OK</a:t>
            </a:r>
            <a:endParaRPr lang="en-US" sz="1600" dirty="0"/>
          </a:p>
        </p:txBody>
      </p:sp>
      <p:pic>
        <p:nvPicPr>
          <p:cNvPr id="12" name="QR 1" descr="QR code for hirebuddy-k543.onrender.com">    </p:cNvPr>
          <p:cNvPicPr>
            <a:picLocks noChangeAspect="1"/>
          </p:cNvPicPr>
          <p:nvPr/>
        </p:nvPicPr>
        <p:blipFill>
          <a:blip r:embed="rId1"/>
          <a:stretch>
            <a:fillRect/>
          </a:stretch>
        </p:blipFill>
        <p:spPr>
          <a:xfrm>
            <a:off x="7818120" y="1920240"/>
            <a:ext cx="1783080" cy="1783080"/>
          </a:xfrm>
          <a:prstGeom prst="rect">
            <a:avLst/>
          </a:prstGeom>
        </p:spPr>
      </p:pic>
      <p:sp>
        <p:nvSpPr>
          <p:cNvPr id="13" name="QR 1 heading"/>
          <p:cNvSpPr txBox="1"/>
          <p:nvPr/>
        </p:nvSpPr>
        <p:spPr>
          <a:xfrm>
            <a:off x="7726680" y="3794760"/>
            <a:ext cx="1965960" cy="365760"/>
          </a:xfrm>
          <a:prstGeom prst="rect">
            <a:avLst/>
          </a:prstGeom>
          <a:noFill/>
          <a:ln/>
        </p:spPr>
        <p:txBody>
          <a:bodyPr wrap="square" lIns="0" tIns="0" rIns="0" bIns="0" rtlCol="0" anchor="ctr"/>
          <a:lstStyle/>
          <a:p>
            <a:pPr algn="ctr" indent="0" marL="0">
              <a:buNone/>
            </a:pPr>
            <a:r>
              <a:rPr lang="en-US" sz="14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Live app</a:t>
            </a:r>
            <a:endParaRPr lang="en-US" sz="1400" dirty="0"/>
          </a:p>
        </p:txBody>
      </p:sp>
      <p:pic>
        <p:nvPicPr>
          <p:cNvPr id="14" name="QR 2" descr="QR code for github.com/Josan88/job-buddy">    </p:cNvPr>
          <p:cNvPicPr>
            <a:picLocks noChangeAspect="1"/>
          </p:cNvPicPr>
          <p:nvPr/>
        </p:nvPicPr>
        <p:blipFill>
          <a:blip r:embed="rId3"/>
          <a:stretch>
            <a:fillRect/>
          </a:stretch>
        </p:blipFill>
        <p:spPr>
          <a:xfrm>
            <a:off x="9829800" y="1920240"/>
            <a:ext cx="1783080" cy="1783080"/>
          </a:xfrm>
          <a:prstGeom prst="rect">
            <a:avLst/>
          </a:prstGeom>
        </p:spPr>
      </p:pic>
      <p:sp>
        <p:nvSpPr>
          <p:cNvPr id="15" name="QR 2 heading"/>
          <p:cNvSpPr txBox="1"/>
          <p:nvPr/>
        </p:nvSpPr>
        <p:spPr>
          <a:xfrm>
            <a:off x="9738360" y="3794760"/>
            <a:ext cx="1965960" cy="365760"/>
          </a:xfrm>
          <a:prstGeom prst="rect">
            <a:avLst/>
          </a:prstGeom>
          <a:noFill/>
          <a:ln/>
        </p:spPr>
        <p:txBody>
          <a:bodyPr wrap="square" lIns="0" tIns="0" rIns="0" bIns="0" rtlCol="0" anchor="ctr"/>
          <a:lstStyle/>
          <a:p>
            <a:pPr algn="ctr" indent="0" marL="0">
              <a:buNone/>
            </a:pPr>
            <a:r>
              <a:rPr lang="en-US" sz="14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Code + setup</a:t>
            </a:r>
            <a:endParaRPr lang="en-US" sz="1400" dirty="0"/>
          </a:p>
        </p:txBody>
      </p:sp>
      <p:sp>
        <p:nvSpPr>
          <p:cNvPr id="16" name="Tagline"/>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2200" b="1" dirty="0">
                <a:solidFill>
                  <a:schemeClr val="accent1"/>
                </a:solidFill>
              </a:rPr>
              <a:t>HireBuddy: work that gets done.</a:t>
            </a:r>
            <a:endParaRPr lang="en-US" sz="22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Backup: Real WorkBuddy Run</a:t>
            </a:r>
            <a:endParaRPr lang="en-US" sz="3000" dirty="0"/>
          </a:p>
        </p:txBody>
      </p:sp>
      <p:pic>
        <p:nvPicPr>
          <p:cNvPr id="3" name="WorkBuddy result screenshot" descr="HireBuddy run driven by WorkBuddy: Nur Aqilah, low vision, remote only. Checked and verified, 1 suitable job, Bahasa Melayu Content Writer, 88 out of 100">    </p:cNvPr>
          <p:cNvPicPr>
            <a:picLocks noChangeAspect="1"/>
          </p:cNvPicPr>
          <p:nvPr/>
        </p:nvPicPr>
        <p:blipFill>
          <a:blip r:embed="rId1"/>
          <a:stretch>
            <a:fillRect/>
          </a:stretch>
        </p:blipFill>
        <p:spPr>
          <a:xfrm>
            <a:off x="548640" y="1188720"/>
            <a:ext cx="5404104" cy="4242816"/>
          </a:xfrm>
          <a:prstGeom prst="rect">
            <a:avLst/>
          </a:prstGeom>
        </p:spPr>
      </p:pic>
      <p:pic>
        <p:nvPicPr>
          <p:cNvPr id="4" name="Job-site listings screenshot" descr="Jobs WorkBuddy found on other sites, each scored, rejected with a reason: not remote">    </p:cNvPr>
          <p:cNvPicPr>
            <a:picLocks noChangeAspect="1"/>
          </p:cNvPicPr>
          <p:nvPr/>
        </p:nvPicPr>
        <p:blipFill>
          <a:blip r:embed="rId2"/>
          <a:stretch>
            <a:fillRect/>
          </a:stretch>
        </p:blipFill>
        <p:spPr>
          <a:xfrm>
            <a:off x="6355080" y="1188720"/>
            <a:ext cx="4864608" cy="4754880"/>
          </a:xfrm>
          <a:prstGeom prst="rect">
            <a:avLst/>
          </a:prstGeom>
        </p:spPr>
      </p:pic>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HireBuddy Night">
  <a:themeElements>
    <a:clrScheme name="HireBuddy Night">
      <a:dk1>
        <a:srgbClr val="0F172A"/>
      </a:dk1>
      <a:lt1>
        <a:srgbClr val="F1F5F9"/>
      </a:lt1>
      <a:dk2>
        <a:srgbClr val="1E293B"/>
      </a:dk2>
      <a:lt2>
        <a:srgbClr val="94A3B8"/>
      </a:lt2>
      <a:accent1>
        <a:srgbClr val="3B82F6"/>
      </a:accent1>
      <a:accent2>
        <a:srgbClr val="10B981"/>
      </a:accent2>
      <a:accent3>
        <a:srgbClr val="1E40AF"/>
      </a:accent3>
      <a:accent4>
        <a:srgbClr val="F59E0B"/>
      </a:accent4>
      <a:accent5>
        <a:srgbClr val="475569"/>
      </a:accent5>
      <a:accent6>
        <a:srgbClr val="EF4444"/>
      </a:accent6>
      <a:hlink>
        <a:srgbClr val="60A5FA"/>
      </a:hlink>
      <a:folHlink>
        <a:srgbClr val="93C5FD"/>
      </a:folHlink>
    </a:clrScheme>
    <a:fontScheme name="HireBuddy Night">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HireBuddy pitch</dc:title>
  <dc:subject>PptxGenJS Presentation</dc:subject>
  <dc:creator>PptxGenJS</dc:creator>
  <cp:lastModifiedBy>PptxGenJS</cp:lastModifiedBy>
  <cp:revision>1</cp:revision>
  <dcterms:created xsi:type="dcterms:W3CDTF">2026-10-11T03:30:40Z</dcterms:created>
  <dcterms:modified xsi:type="dcterms:W3CDTF">2026-10-11T03:30:40Z</dcterms:modified>
</cp:coreProperties>
</file>